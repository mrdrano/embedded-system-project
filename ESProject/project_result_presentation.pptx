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57" r:id="rId4"/>
    <p:sldId id="259" r:id="rId5"/>
    <p:sldId id="261" r:id="rId6"/>
    <p:sldId id="280" r:id="rId7"/>
    <p:sldId id="279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1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75172" autoAdjust="0"/>
  </p:normalViewPr>
  <p:slideViewPr>
    <p:cSldViewPr snapToGrid="0" snapToObjects="1">
      <p:cViewPr varScale="1">
        <p:scale>
          <a:sx n="77" d="100"/>
          <a:sy n="77" d="100"/>
        </p:scale>
        <p:origin x="1618" y="6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C3333B-538E-4CE0-8A0E-034671F221D1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D8A928FC-622D-4C3D-91E0-0DDE0D2D8186}">
      <dgm:prSet phldrT="[文字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RT</a:t>
          </a:r>
          <a:r>
            <a:rPr lang="zh-TW" altLang="en-US" dirty="0">
              <a:solidFill>
                <a:schemeClr val="tx1"/>
              </a:solidFill>
            </a:rPr>
            <a:t> </a:t>
          </a:r>
          <a:r>
            <a:rPr lang="en-US" altLang="zh-TW" dirty="0">
              <a:solidFill>
                <a:schemeClr val="tx1"/>
              </a:solidFill>
            </a:rPr>
            <a:t>Sampling Thread</a:t>
          </a:r>
          <a:endParaRPr lang="zh-TW" altLang="en-US" dirty="0">
            <a:solidFill>
              <a:schemeClr val="tx1"/>
            </a:solidFill>
          </a:endParaRPr>
        </a:p>
      </dgm:t>
    </dgm:pt>
    <dgm:pt modelId="{3EDA1781-7680-4D14-A422-876B80937134}" type="parTrans" cxnId="{431B246D-4541-4B43-9E67-3F3275861CDB}">
      <dgm:prSet/>
      <dgm:spPr/>
      <dgm:t>
        <a:bodyPr/>
        <a:lstStyle/>
        <a:p>
          <a:endParaRPr lang="zh-TW" altLang="en-US"/>
        </a:p>
      </dgm:t>
    </dgm:pt>
    <dgm:pt modelId="{D74E5EE6-55E1-4415-B43A-07E04D4CCFA6}" type="sibTrans" cxnId="{431B246D-4541-4B43-9E67-3F3275861CDB}">
      <dgm:prSet/>
      <dgm:spPr/>
      <dgm:t>
        <a:bodyPr/>
        <a:lstStyle/>
        <a:p>
          <a:endParaRPr lang="zh-TW" altLang="en-US"/>
        </a:p>
      </dgm:t>
    </dgm:pt>
    <dgm:pt modelId="{F75BBADB-C898-4C06-A01D-2C278A05733A}">
      <dgm:prSet phldrT="[文字]" phldr="0"/>
      <dgm:spPr/>
      <dgm:t>
        <a:bodyPr/>
        <a:lstStyle/>
        <a:p>
          <a:r>
            <a:rPr lang="en-US" altLang="zh-TW" dirty="0"/>
            <a:t>1kHz frequency reading MPU6050</a:t>
          </a:r>
          <a:endParaRPr lang="zh-TW" altLang="en-US" dirty="0"/>
        </a:p>
      </dgm:t>
    </dgm:pt>
    <dgm:pt modelId="{6B0B2103-71C1-4298-8C9D-ACFDC91FE339}" type="parTrans" cxnId="{41ED8089-2E63-46C4-9366-34A2B53CA7F9}">
      <dgm:prSet/>
      <dgm:spPr/>
      <dgm:t>
        <a:bodyPr/>
        <a:lstStyle/>
        <a:p>
          <a:endParaRPr lang="zh-TW" altLang="en-US"/>
        </a:p>
      </dgm:t>
    </dgm:pt>
    <dgm:pt modelId="{0285B135-2A61-4124-8B84-39D382FEE921}" type="sibTrans" cxnId="{41ED8089-2E63-46C4-9366-34A2B53CA7F9}">
      <dgm:prSet/>
      <dgm:spPr/>
      <dgm:t>
        <a:bodyPr/>
        <a:lstStyle/>
        <a:p>
          <a:endParaRPr lang="zh-TW" altLang="en-US"/>
        </a:p>
      </dgm:t>
    </dgm:pt>
    <dgm:pt modelId="{64D7CB87-7630-45B7-928A-9DE3BDFA2A90}">
      <dgm:prSet phldrT="[文字]" phldr="0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DSP Thread</a:t>
          </a:r>
          <a:endParaRPr lang="zh-TW" altLang="en-US" dirty="0">
            <a:solidFill>
              <a:schemeClr val="tx1"/>
            </a:solidFill>
          </a:endParaRPr>
        </a:p>
      </dgm:t>
    </dgm:pt>
    <dgm:pt modelId="{F7A43833-F0E4-4A8D-9D3D-4269A42A0C19}" type="parTrans" cxnId="{FB0D8DEE-0DEA-461F-A57A-DBAD0ED0B849}">
      <dgm:prSet/>
      <dgm:spPr/>
      <dgm:t>
        <a:bodyPr/>
        <a:lstStyle/>
        <a:p>
          <a:endParaRPr lang="zh-TW" altLang="en-US"/>
        </a:p>
      </dgm:t>
    </dgm:pt>
    <dgm:pt modelId="{EB56CB81-234F-432D-8D88-F6D2122FDBFF}" type="sibTrans" cxnId="{FB0D8DEE-0DEA-461F-A57A-DBAD0ED0B849}">
      <dgm:prSet/>
      <dgm:spPr/>
      <dgm:t>
        <a:bodyPr/>
        <a:lstStyle/>
        <a:p>
          <a:endParaRPr lang="zh-TW" altLang="en-US"/>
        </a:p>
      </dgm:t>
    </dgm:pt>
    <dgm:pt modelId="{48A20EB5-042C-4E41-879A-4B76D7255A17}">
      <dgm:prSet phldrT="[文字]" phldr="0"/>
      <dgm:spPr/>
      <dgm:t>
        <a:bodyPr/>
        <a:lstStyle/>
        <a:p>
          <a:r>
            <a:rPr lang="en-US" altLang="zh-TW" dirty="0"/>
            <a:t>FFT tests for anomaly, RMS, and Kurtosis</a:t>
          </a:r>
          <a:endParaRPr lang="zh-TW" altLang="en-US" dirty="0"/>
        </a:p>
      </dgm:t>
    </dgm:pt>
    <dgm:pt modelId="{A2FBDEC9-C8F2-42B9-ADB9-AB309320B230}" type="parTrans" cxnId="{6BBB3914-DC42-4923-A332-F3445671EB03}">
      <dgm:prSet/>
      <dgm:spPr/>
      <dgm:t>
        <a:bodyPr/>
        <a:lstStyle/>
        <a:p>
          <a:endParaRPr lang="zh-TW" altLang="en-US"/>
        </a:p>
      </dgm:t>
    </dgm:pt>
    <dgm:pt modelId="{94B44119-408E-4C6E-B651-6B56B0561769}" type="sibTrans" cxnId="{6BBB3914-DC42-4923-A332-F3445671EB03}">
      <dgm:prSet/>
      <dgm:spPr/>
      <dgm:t>
        <a:bodyPr/>
        <a:lstStyle/>
        <a:p>
          <a:endParaRPr lang="zh-TW" altLang="en-US"/>
        </a:p>
      </dgm:t>
    </dgm:pt>
    <dgm:pt modelId="{9D94473D-B0F3-4DD0-8A3B-E8DFF9FB61FD}">
      <dgm:prSet phldrT="[文字]" phldr="0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Baseline Manager</a:t>
          </a:r>
          <a:endParaRPr lang="zh-TW" altLang="en-US" dirty="0">
            <a:solidFill>
              <a:schemeClr val="tx1"/>
            </a:solidFill>
          </a:endParaRPr>
        </a:p>
      </dgm:t>
    </dgm:pt>
    <dgm:pt modelId="{ECF404CB-885C-40F6-8E81-A2F74B641FD0}" type="parTrans" cxnId="{BB71789D-9F3F-4685-AC9F-4EAEE5F51992}">
      <dgm:prSet/>
      <dgm:spPr/>
      <dgm:t>
        <a:bodyPr/>
        <a:lstStyle/>
        <a:p>
          <a:endParaRPr lang="zh-TW" altLang="en-US"/>
        </a:p>
      </dgm:t>
    </dgm:pt>
    <dgm:pt modelId="{ADD56028-9534-449B-8197-5929D833F61C}" type="sibTrans" cxnId="{BB71789D-9F3F-4685-AC9F-4EAEE5F51992}">
      <dgm:prSet/>
      <dgm:spPr/>
      <dgm:t>
        <a:bodyPr/>
        <a:lstStyle/>
        <a:p>
          <a:endParaRPr lang="zh-TW" altLang="en-US"/>
        </a:p>
      </dgm:t>
    </dgm:pt>
    <dgm:pt modelId="{4246BDF0-B8CC-413C-84C5-835943461FFB}">
      <dgm:prSet phldrT="[文字]" phldr="0" custT="1"/>
      <dgm:spPr/>
      <dgm:t>
        <a:bodyPr/>
        <a:lstStyle/>
        <a:p>
          <a:r>
            <a:rPr lang="en-US" altLang="zh-TW" sz="1500" dirty="0"/>
            <a:t>Monitoring or rebuilding baseline</a:t>
          </a:r>
          <a:endParaRPr lang="zh-TW" altLang="en-US" sz="1500" dirty="0"/>
        </a:p>
      </dgm:t>
    </dgm:pt>
    <dgm:pt modelId="{097D3971-A5A5-4E80-96BC-19F3A49C9FC8}" type="sibTrans" cxnId="{2F7BD28F-5794-456F-8581-CFE5D8B65B03}">
      <dgm:prSet/>
      <dgm:spPr/>
      <dgm:t>
        <a:bodyPr/>
        <a:lstStyle/>
        <a:p>
          <a:endParaRPr lang="zh-TW" altLang="en-US"/>
        </a:p>
      </dgm:t>
    </dgm:pt>
    <dgm:pt modelId="{E6437E97-496F-4C1A-B289-57AA0D2D0E6D}" type="parTrans" cxnId="{2F7BD28F-5794-456F-8581-CFE5D8B65B03}">
      <dgm:prSet/>
      <dgm:spPr/>
      <dgm:t>
        <a:bodyPr/>
        <a:lstStyle/>
        <a:p>
          <a:endParaRPr lang="zh-TW" altLang="en-US"/>
        </a:p>
      </dgm:t>
    </dgm:pt>
    <dgm:pt modelId="{3C03196B-D1C5-47E1-90C7-395149D3C487}" type="pres">
      <dgm:prSet presAssocID="{7EC3333B-538E-4CE0-8A0E-034671F221D1}" presName="rootnode" presStyleCnt="0">
        <dgm:presLayoutVars>
          <dgm:chMax/>
          <dgm:chPref/>
          <dgm:dir/>
          <dgm:animLvl val="lvl"/>
        </dgm:presLayoutVars>
      </dgm:prSet>
      <dgm:spPr/>
    </dgm:pt>
    <dgm:pt modelId="{BCE134CA-B4AE-49A6-842C-CAE22C1CDF8C}" type="pres">
      <dgm:prSet presAssocID="{D8A928FC-622D-4C3D-91E0-0DDE0D2D8186}" presName="composite" presStyleCnt="0"/>
      <dgm:spPr/>
    </dgm:pt>
    <dgm:pt modelId="{ED8BA2BC-B5C0-4335-83E1-A3762447DF0E}" type="pres">
      <dgm:prSet presAssocID="{D8A928FC-622D-4C3D-91E0-0DDE0D2D8186}" presName="bentUpArrow1" presStyleLbl="alignImgPlace1" presStyleIdx="0" presStyleCnt="2" custLinFactNeighborX="-49756" custLinFactNeighborY="3564"/>
      <dgm:spPr/>
    </dgm:pt>
    <dgm:pt modelId="{1A5A48B2-6FBF-4A68-AFBF-8145E1B34E04}" type="pres">
      <dgm:prSet presAssocID="{D8A928FC-622D-4C3D-91E0-0DDE0D2D8186}" presName="ParentText" presStyleLbl="node1" presStyleIdx="0" presStyleCnt="3" custLinFactNeighborX="-68817" custLinFactNeighborY="-1882">
        <dgm:presLayoutVars>
          <dgm:chMax val="1"/>
          <dgm:chPref val="1"/>
          <dgm:bulletEnabled val="1"/>
        </dgm:presLayoutVars>
      </dgm:prSet>
      <dgm:spPr/>
    </dgm:pt>
    <dgm:pt modelId="{597F0ADD-E273-4560-BE24-AD116490AEEA}" type="pres">
      <dgm:prSet presAssocID="{D8A928FC-622D-4C3D-91E0-0DDE0D2D8186}" presName="ChildText" presStyleLbl="revTx" presStyleIdx="0" presStyleCnt="3" custScaleX="300338" custScaleY="98687" custLinFactNeighborX="66961" custLinFactNeighborY="3742">
        <dgm:presLayoutVars>
          <dgm:chMax val="0"/>
          <dgm:chPref val="0"/>
          <dgm:bulletEnabled val="1"/>
        </dgm:presLayoutVars>
      </dgm:prSet>
      <dgm:spPr/>
    </dgm:pt>
    <dgm:pt modelId="{4F40F14B-0C2D-4902-881A-CF312B20991B}" type="pres">
      <dgm:prSet presAssocID="{D74E5EE6-55E1-4415-B43A-07E04D4CCFA6}" presName="sibTrans" presStyleCnt="0"/>
      <dgm:spPr/>
    </dgm:pt>
    <dgm:pt modelId="{30D53BAF-130B-49D6-AC3D-9C5DC861B147}" type="pres">
      <dgm:prSet presAssocID="{64D7CB87-7630-45B7-928A-9DE3BDFA2A90}" presName="composite" presStyleCnt="0"/>
      <dgm:spPr/>
    </dgm:pt>
    <dgm:pt modelId="{C9CBE86C-1099-43A9-B64D-4559A35EE59D}" type="pres">
      <dgm:prSet presAssocID="{64D7CB87-7630-45B7-928A-9DE3BDFA2A90}" presName="bentUpArrow1" presStyleLbl="alignImgPlace1" presStyleIdx="1" presStyleCnt="2" custLinFactNeighborX="-98626" custLinFactNeighborY="891"/>
      <dgm:spPr/>
    </dgm:pt>
    <dgm:pt modelId="{727AB18A-AAA7-41A4-BB02-042A688D3FC0}" type="pres">
      <dgm:prSet presAssocID="{64D7CB87-7630-45B7-928A-9DE3BDFA2A90}" presName="ParentText" presStyleLbl="node1" presStyleIdx="1" presStyleCnt="3" custLinFactNeighborX="-73581" custLinFactNeighborY="-8319">
        <dgm:presLayoutVars>
          <dgm:chMax val="1"/>
          <dgm:chPref val="1"/>
          <dgm:bulletEnabled val="1"/>
        </dgm:presLayoutVars>
      </dgm:prSet>
      <dgm:spPr/>
    </dgm:pt>
    <dgm:pt modelId="{F630EA04-6A97-4E7F-B36C-AAF5FCFDBDE1}" type="pres">
      <dgm:prSet presAssocID="{64D7CB87-7630-45B7-928A-9DE3BDFA2A90}" presName="ChildText" presStyleLbl="revTx" presStyleIdx="1" presStyleCnt="3" custScaleX="358719" custLinFactNeighborX="26820" custLinFactNeighborY="-4679">
        <dgm:presLayoutVars>
          <dgm:chMax val="0"/>
          <dgm:chPref val="0"/>
          <dgm:bulletEnabled val="1"/>
        </dgm:presLayoutVars>
      </dgm:prSet>
      <dgm:spPr/>
    </dgm:pt>
    <dgm:pt modelId="{990B9153-433F-4980-BCB9-A3C29CE5D075}" type="pres">
      <dgm:prSet presAssocID="{EB56CB81-234F-432D-8D88-F6D2122FDBFF}" presName="sibTrans" presStyleCnt="0"/>
      <dgm:spPr/>
    </dgm:pt>
    <dgm:pt modelId="{EACBBE98-119D-4F6A-8216-C762AFD224DD}" type="pres">
      <dgm:prSet presAssocID="{9D94473D-B0F3-4DD0-8A3B-E8DFF9FB61FD}" presName="composite" presStyleCnt="0"/>
      <dgm:spPr/>
    </dgm:pt>
    <dgm:pt modelId="{D20346AF-5BE3-4AD4-BCC9-50BEF3496D54}" type="pres">
      <dgm:prSet presAssocID="{9D94473D-B0F3-4DD0-8A3B-E8DFF9FB61FD}" presName="ParentText" presStyleLbl="node1" presStyleIdx="2" presStyleCnt="3" custLinFactX="-2166" custLinFactNeighborX="-100000" custLinFactNeighborY="1882">
        <dgm:presLayoutVars>
          <dgm:chMax val="1"/>
          <dgm:chPref val="1"/>
          <dgm:bulletEnabled val="1"/>
        </dgm:presLayoutVars>
      </dgm:prSet>
      <dgm:spPr/>
    </dgm:pt>
    <dgm:pt modelId="{8FD225F3-B44A-45B7-B0C3-B94DE0D61B51}" type="pres">
      <dgm:prSet presAssocID="{9D94473D-B0F3-4DD0-8A3B-E8DFF9FB61FD}" presName="FinalChildText" presStyleLbl="revTx" presStyleIdx="2" presStyleCnt="3" custScaleX="337948" custScaleY="63952" custLinFactNeighborX="-13829" custLinFactNeighborY="14971">
        <dgm:presLayoutVars>
          <dgm:chMax val="0"/>
          <dgm:chPref val="0"/>
          <dgm:bulletEnabled val="1"/>
        </dgm:presLayoutVars>
      </dgm:prSet>
      <dgm:spPr/>
    </dgm:pt>
  </dgm:ptLst>
  <dgm:cxnLst>
    <dgm:cxn modelId="{2C199409-51E2-432E-9B52-854FB8913995}" type="presOf" srcId="{64D7CB87-7630-45B7-928A-9DE3BDFA2A90}" destId="{727AB18A-AAA7-41A4-BB02-042A688D3FC0}" srcOrd="0" destOrd="0" presId="urn:microsoft.com/office/officeart/2005/8/layout/StepDownProcess"/>
    <dgm:cxn modelId="{E5A41A11-3DBF-4C9A-91A3-A2C4FBC66F4D}" type="presOf" srcId="{D8A928FC-622D-4C3D-91E0-0DDE0D2D8186}" destId="{1A5A48B2-6FBF-4A68-AFBF-8145E1B34E04}" srcOrd="0" destOrd="0" presId="urn:microsoft.com/office/officeart/2005/8/layout/StepDownProcess"/>
    <dgm:cxn modelId="{6BBB3914-DC42-4923-A332-F3445671EB03}" srcId="{64D7CB87-7630-45B7-928A-9DE3BDFA2A90}" destId="{48A20EB5-042C-4E41-879A-4B76D7255A17}" srcOrd="0" destOrd="0" parTransId="{A2FBDEC9-C8F2-42B9-ADB9-AB309320B230}" sibTransId="{94B44119-408E-4C6E-B651-6B56B0561769}"/>
    <dgm:cxn modelId="{C98BFB34-0217-44D8-BE19-8C5AE9CE4403}" type="presOf" srcId="{4246BDF0-B8CC-413C-84C5-835943461FFB}" destId="{8FD225F3-B44A-45B7-B0C3-B94DE0D61B51}" srcOrd="0" destOrd="0" presId="urn:microsoft.com/office/officeart/2005/8/layout/StepDownProcess"/>
    <dgm:cxn modelId="{16F6D460-56B1-48F2-A1F1-EF38BAE7F823}" type="presOf" srcId="{7EC3333B-538E-4CE0-8A0E-034671F221D1}" destId="{3C03196B-D1C5-47E1-90C7-395149D3C487}" srcOrd="0" destOrd="0" presId="urn:microsoft.com/office/officeart/2005/8/layout/StepDownProcess"/>
    <dgm:cxn modelId="{B6B4F764-ED01-4365-87C8-C2319DE281EC}" type="presOf" srcId="{F75BBADB-C898-4C06-A01D-2C278A05733A}" destId="{597F0ADD-E273-4560-BE24-AD116490AEEA}" srcOrd="0" destOrd="0" presId="urn:microsoft.com/office/officeart/2005/8/layout/StepDownProcess"/>
    <dgm:cxn modelId="{431B246D-4541-4B43-9E67-3F3275861CDB}" srcId="{7EC3333B-538E-4CE0-8A0E-034671F221D1}" destId="{D8A928FC-622D-4C3D-91E0-0DDE0D2D8186}" srcOrd="0" destOrd="0" parTransId="{3EDA1781-7680-4D14-A422-876B80937134}" sibTransId="{D74E5EE6-55E1-4415-B43A-07E04D4CCFA6}"/>
    <dgm:cxn modelId="{41ED8089-2E63-46C4-9366-34A2B53CA7F9}" srcId="{D8A928FC-622D-4C3D-91E0-0DDE0D2D8186}" destId="{F75BBADB-C898-4C06-A01D-2C278A05733A}" srcOrd="0" destOrd="0" parTransId="{6B0B2103-71C1-4298-8C9D-ACFDC91FE339}" sibTransId="{0285B135-2A61-4124-8B84-39D382FEE921}"/>
    <dgm:cxn modelId="{2F7BD28F-5794-456F-8581-CFE5D8B65B03}" srcId="{9D94473D-B0F3-4DD0-8A3B-E8DFF9FB61FD}" destId="{4246BDF0-B8CC-413C-84C5-835943461FFB}" srcOrd="0" destOrd="0" parTransId="{E6437E97-496F-4C1A-B289-57AA0D2D0E6D}" sibTransId="{097D3971-A5A5-4E80-96BC-19F3A49C9FC8}"/>
    <dgm:cxn modelId="{BB71789D-9F3F-4685-AC9F-4EAEE5F51992}" srcId="{7EC3333B-538E-4CE0-8A0E-034671F221D1}" destId="{9D94473D-B0F3-4DD0-8A3B-E8DFF9FB61FD}" srcOrd="2" destOrd="0" parTransId="{ECF404CB-885C-40F6-8E81-A2F74B641FD0}" sibTransId="{ADD56028-9534-449B-8197-5929D833F61C}"/>
    <dgm:cxn modelId="{6321B2A7-A4B0-4931-9E91-08587B06E826}" type="presOf" srcId="{48A20EB5-042C-4E41-879A-4B76D7255A17}" destId="{F630EA04-6A97-4E7F-B36C-AAF5FCFDBDE1}" srcOrd="0" destOrd="0" presId="urn:microsoft.com/office/officeart/2005/8/layout/StepDownProcess"/>
    <dgm:cxn modelId="{FB0D8DEE-0DEA-461F-A57A-DBAD0ED0B849}" srcId="{7EC3333B-538E-4CE0-8A0E-034671F221D1}" destId="{64D7CB87-7630-45B7-928A-9DE3BDFA2A90}" srcOrd="1" destOrd="0" parTransId="{F7A43833-F0E4-4A8D-9D3D-4269A42A0C19}" sibTransId="{EB56CB81-234F-432D-8D88-F6D2122FDBFF}"/>
    <dgm:cxn modelId="{2E2F8AF1-B78E-46C9-9E8D-1835E3ED309C}" type="presOf" srcId="{9D94473D-B0F3-4DD0-8A3B-E8DFF9FB61FD}" destId="{D20346AF-5BE3-4AD4-BCC9-50BEF3496D54}" srcOrd="0" destOrd="0" presId="urn:microsoft.com/office/officeart/2005/8/layout/StepDownProcess"/>
    <dgm:cxn modelId="{ADFE3D36-7578-45CC-8C72-E1EBDEBE45DC}" type="presParOf" srcId="{3C03196B-D1C5-47E1-90C7-395149D3C487}" destId="{BCE134CA-B4AE-49A6-842C-CAE22C1CDF8C}" srcOrd="0" destOrd="0" presId="urn:microsoft.com/office/officeart/2005/8/layout/StepDownProcess"/>
    <dgm:cxn modelId="{929708BD-764A-4CC7-ADC6-78686D36A586}" type="presParOf" srcId="{BCE134CA-B4AE-49A6-842C-CAE22C1CDF8C}" destId="{ED8BA2BC-B5C0-4335-83E1-A3762447DF0E}" srcOrd="0" destOrd="0" presId="urn:microsoft.com/office/officeart/2005/8/layout/StepDownProcess"/>
    <dgm:cxn modelId="{A7883B21-C10B-435B-9401-082F924A9051}" type="presParOf" srcId="{BCE134CA-B4AE-49A6-842C-CAE22C1CDF8C}" destId="{1A5A48B2-6FBF-4A68-AFBF-8145E1B34E04}" srcOrd="1" destOrd="0" presId="urn:microsoft.com/office/officeart/2005/8/layout/StepDownProcess"/>
    <dgm:cxn modelId="{8828F539-45DE-49C5-8117-710D2C0A161C}" type="presParOf" srcId="{BCE134CA-B4AE-49A6-842C-CAE22C1CDF8C}" destId="{597F0ADD-E273-4560-BE24-AD116490AEEA}" srcOrd="2" destOrd="0" presId="urn:microsoft.com/office/officeart/2005/8/layout/StepDownProcess"/>
    <dgm:cxn modelId="{043D4976-5272-4CD0-AA17-06E2A93D9117}" type="presParOf" srcId="{3C03196B-D1C5-47E1-90C7-395149D3C487}" destId="{4F40F14B-0C2D-4902-881A-CF312B20991B}" srcOrd="1" destOrd="0" presId="urn:microsoft.com/office/officeart/2005/8/layout/StepDownProcess"/>
    <dgm:cxn modelId="{3D61AA98-6D28-4D09-8358-CED138B7DC60}" type="presParOf" srcId="{3C03196B-D1C5-47E1-90C7-395149D3C487}" destId="{30D53BAF-130B-49D6-AC3D-9C5DC861B147}" srcOrd="2" destOrd="0" presId="urn:microsoft.com/office/officeart/2005/8/layout/StepDownProcess"/>
    <dgm:cxn modelId="{BDCF7DDF-E11B-4FAA-BC17-771968928518}" type="presParOf" srcId="{30D53BAF-130B-49D6-AC3D-9C5DC861B147}" destId="{C9CBE86C-1099-43A9-B64D-4559A35EE59D}" srcOrd="0" destOrd="0" presId="urn:microsoft.com/office/officeart/2005/8/layout/StepDownProcess"/>
    <dgm:cxn modelId="{E1E1508D-B0BE-4490-B08C-4A7585B2476A}" type="presParOf" srcId="{30D53BAF-130B-49D6-AC3D-9C5DC861B147}" destId="{727AB18A-AAA7-41A4-BB02-042A688D3FC0}" srcOrd="1" destOrd="0" presId="urn:microsoft.com/office/officeart/2005/8/layout/StepDownProcess"/>
    <dgm:cxn modelId="{69C98A2B-C860-491D-9ED1-697ECE138FB3}" type="presParOf" srcId="{30D53BAF-130B-49D6-AC3D-9C5DC861B147}" destId="{F630EA04-6A97-4E7F-B36C-AAF5FCFDBDE1}" srcOrd="2" destOrd="0" presId="urn:microsoft.com/office/officeart/2005/8/layout/StepDownProcess"/>
    <dgm:cxn modelId="{830DCA6A-2760-42C9-96D1-AB1C99948DF5}" type="presParOf" srcId="{3C03196B-D1C5-47E1-90C7-395149D3C487}" destId="{990B9153-433F-4980-BCB9-A3C29CE5D075}" srcOrd="3" destOrd="0" presId="urn:microsoft.com/office/officeart/2005/8/layout/StepDownProcess"/>
    <dgm:cxn modelId="{B3E24C61-D4D7-4EFB-B807-51EF5B7FC977}" type="presParOf" srcId="{3C03196B-D1C5-47E1-90C7-395149D3C487}" destId="{EACBBE98-119D-4F6A-8216-C762AFD224DD}" srcOrd="4" destOrd="0" presId="urn:microsoft.com/office/officeart/2005/8/layout/StepDownProcess"/>
    <dgm:cxn modelId="{F83C9126-434B-4248-9E93-B8AFAB284EE1}" type="presParOf" srcId="{EACBBE98-119D-4F6A-8216-C762AFD224DD}" destId="{D20346AF-5BE3-4AD4-BCC9-50BEF3496D54}" srcOrd="0" destOrd="0" presId="urn:microsoft.com/office/officeart/2005/8/layout/StepDownProcess"/>
    <dgm:cxn modelId="{82335972-26FB-44E2-B002-D32BC85D5473}" type="presParOf" srcId="{EACBBE98-119D-4F6A-8216-C762AFD224DD}" destId="{8FD225F3-B44A-45B7-B0C3-B94DE0D61B51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C3333B-538E-4CE0-8A0E-034671F221D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D8A928FC-622D-4C3D-91E0-0DDE0D2D8186}">
      <dgm:prSet phldrT="[文字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1. Button Thread</a:t>
          </a:r>
          <a:endParaRPr lang="zh-TW" altLang="en-US" dirty="0">
            <a:solidFill>
              <a:schemeClr val="tx1"/>
            </a:solidFill>
          </a:endParaRPr>
        </a:p>
      </dgm:t>
    </dgm:pt>
    <dgm:pt modelId="{3EDA1781-7680-4D14-A422-876B80937134}" type="parTrans" cxnId="{431B246D-4541-4B43-9E67-3F3275861CDB}">
      <dgm:prSet/>
      <dgm:spPr/>
      <dgm:t>
        <a:bodyPr/>
        <a:lstStyle/>
        <a:p>
          <a:endParaRPr lang="zh-TW" altLang="en-US"/>
        </a:p>
      </dgm:t>
    </dgm:pt>
    <dgm:pt modelId="{D74E5EE6-55E1-4415-B43A-07E04D4CCFA6}" type="sibTrans" cxnId="{431B246D-4541-4B43-9E67-3F3275861CDB}">
      <dgm:prSet/>
      <dgm:spPr/>
      <dgm:t>
        <a:bodyPr/>
        <a:lstStyle/>
        <a:p>
          <a:endParaRPr lang="zh-TW" altLang="en-US"/>
        </a:p>
      </dgm:t>
    </dgm:pt>
    <dgm:pt modelId="{F75BBADB-C898-4C06-A01D-2C278A05733A}">
      <dgm:prSet phldrT="[文字]" phldr="0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Detect falling edge</a:t>
          </a:r>
          <a:endParaRPr lang="zh-TW" altLang="en-US" dirty="0">
            <a:solidFill>
              <a:schemeClr val="tx1"/>
            </a:solidFill>
          </a:endParaRPr>
        </a:p>
      </dgm:t>
    </dgm:pt>
    <dgm:pt modelId="{6B0B2103-71C1-4298-8C9D-ACFDC91FE339}" type="parTrans" cxnId="{41ED8089-2E63-46C4-9366-34A2B53CA7F9}">
      <dgm:prSet/>
      <dgm:spPr/>
      <dgm:t>
        <a:bodyPr/>
        <a:lstStyle/>
        <a:p>
          <a:endParaRPr lang="zh-TW" altLang="en-US"/>
        </a:p>
      </dgm:t>
    </dgm:pt>
    <dgm:pt modelId="{0285B135-2A61-4124-8B84-39D382FEE921}" type="sibTrans" cxnId="{41ED8089-2E63-46C4-9366-34A2B53CA7F9}">
      <dgm:prSet/>
      <dgm:spPr/>
      <dgm:t>
        <a:bodyPr/>
        <a:lstStyle/>
        <a:p>
          <a:endParaRPr lang="zh-TW" altLang="en-US"/>
        </a:p>
      </dgm:t>
    </dgm:pt>
    <dgm:pt modelId="{64D7CB87-7630-45B7-928A-9DE3BDFA2A90}">
      <dgm:prSet phldrT="[文字]" phldr="0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2. DSP Thread</a:t>
          </a:r>
          <a:endParaRPr lang="zh-TW" altLang="en-US" dirty="0">
            <a:solidFill>
              <a:schemeClr val="tx1"/>
            </a:solidFill>
          </a:endParaRPr>
        </a:p>
      </dgm:t>
    </dgm:pt>
    <dgm:pt modelId="{F7A43833-F0E4-4A8D-9D3D-4269A42A0C19}" type="parTrans" cxnId="{FB0D8DEE-0DEA-461F-A57A-DBAD0ED0B849}">
      <dgm:prSet/>
      <dgm:spPr/>
      <dgm:t>
        <a:bodyPr/>
        <a:lstStyle/>
        <a:p>
          <a:endParaRPr lang="zh-TW" altLang="en-US"/>
        </a:p>
      </dgm:t>
    </dgm:pt>
    <dgm:pt modelId="{EB56CB81-234F-432D-8D88-F6D2122FDBFF}" type="sibTrans" cxnId="{FB0D8DEE-0DEA-461F-A57A-DBAD0ED0B849}">
      <dgm:prSet/>
      <dgm:spPr/>
      <dgm:t>
        <a:bodyPr/>
        <a:lstStyle/>
        <a:p>
          <a:endParaRPr lang="zh-TW" altLang="en-US"/>
        </a:p>
      </dgm:t>
    </dgm:pt>
    <dgm:pt modelId="{48A20EB5-042C-4E41-879A-4B76D7255A17}">
      <dgm:prSet phldrT="[文字]" phldr="0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If Baseline_request :</a:t>
          </a:r>
          <a:br>
            <a:rPr lang="en-US" altLang="zh-TW" dirty="0">
              <a:solidFill>
                <a:schemeClr val="tx1"/>
              </a:solidFill>
            </a:rPr>
          </a:br>
          <a:r>
            <a:rPr lang="en-US" altLang="zh-TW" dirty="0">
              <a:solidFill>
                <a:schemeClr val="tx1"/>
              </a:solidFill>
            </a:rPr>
            <a:t>Start collection</a:t>
          </a:r>
          <a:endParaRPr lang="zh-TW" altLang="en-US" dirty="0">
            <a:solidFill>
              <a:schemeClr val="tx1"/>
            </a:solidFill>
          </a:endParaRPr>
        </a:p>
      </dgm:t>
    </dgm:pt>
    <dgm:pt modelId="{A2FBDEC9-C8F2-42B9-ADB9-AB309320B230}" type="parTrans" cxnId="{6BBB3914-DC42-4923-A332-F3445671EB03}">
      <dgm:prSet/>
      <dgm:spPr/>
      <dgm:t>
        <a:bodyPr/>
        <a:lstStyle/>
        <a:p>
          <a:endParaRPr lang="zh-TW" altLang="en-US"/>
        </a:p>
      </dgm:t>
    </dgm:pt>
    <dgm:pt modelId="{94B44119-408E-4C6E-B651-6B56B0561769}" type="sibTrans" cxnId="{6BBB3914-DC42-4923-A332-F3445671EB03}">
      <dgm:prSet/>
      <dgm:spPr/>
      <dgm:t>
        <a:bodyPr/>
        <a:lstStyle/>
        <a:p>
          <a:endParaRPr lang="zh-TW" altLang="en-US"/>
        </a:p>
      </dgm:t>
    </dgm:pt>
    <dgm:pt modelId="{9D94473D-B0F3-4DD0-8A3B-E8DFF9FB61FD}">
      <dgm:prSet phldrT="[文字]" phldr="0"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altLang="zh-TW" sz="1800" dirty="0">
              <a:solidFill>
                <a:schemeClr val="tx1"/>
              </a:solidFill>
            </a:rPr>
            <a:t>3. Collect Frames</a:t>
          </a:r>
          <a:endParaRPr lang="zh-TW" altLang="en-US" sz="1800" dirty="0">
            <a:solidFill>
              <a:schemeClr val="tx1"/>
            </a:solidFill>
          </a:endParaRPr>
        </a:p>
      </dgm:t>
    </dgm:pt>
    <dgm:pt modelId="{ECF404CB-885C-40F6-8E81-A2F74B641FD0}" type="parTrans" cxnId="{BB71789D-9F3F-4685-AC9F-4EAEE5F51992}">
      <dgm:prSet/>
      <dgm:spPr/>
      <dgm:t>
        <a:bodyPr/>
        <a:lstStyle/>
        <a:p>
          <a:endParaRPr lang="zh-TW" altLang="en-US"/>
        </a:p>
      </dgm:t>
    </dgm:pt>
    <dgm:pt modelId="{ADD56028-9534-449B-8197-5929D833F61C}" type="sibTrans" cxnId="{BB71789D-9F3F-4685-AC9F-4EAEE5F51992}">
      <dgm:prSet/>
      <dgm:spPr/>
      <dgm:t>
        <a:bodyPr/>
        <a:lstStyle/>
        <a:p>
          <a:endParaRPr lang="zh-TW" altLang="en-US"/>
        </a:p>
      </dgm:t>
    </dgm:pt>
    <dgm:pt modelId="{4246BDF0-B8CC-413C-84C5-835943461FFB}">
      <dgm:prSet phldrT="[文字]" phldr="0" custT="1"/>
      <dgm:spPr/>
      <dgm:t>
        <a:bodyPr/>
        <a:lstStyle/>
        <a:p>
          <a:r>
            <a:rPr lang="en-US" altLang="zh-TW" sz="1400" dirty="0">
              <a:solidFill>
                <a:schemeClr val="tx1"/>
              </a:solidFill>
            </a:rPr>
            <a:t>Mean &amp; std of RMS, harmonic for FFT </a:t>
          </a:r>
          <a:br>
            <a:rPr lang="en-US" altLang="zh-TW" sz="1400" dirty="0">
              <a:solidFill>
                <a:schemeClr val="tx1"/>
              </a:solidFill>
            </a:rPr>
          </a:br>
          <a:r>
            <a:rPr lang="en-US" altLang="zh-TW" sz="1400" dirty="0">
              <a:solidFill>
                <a:schemeClr val="tx1"/>
              </a:solidFill>
            </a:rPr>
            <a:t>512 bits</a:t>
          </a:r>
          <a:endParaRPr lang="zh-TW" altLang="en-US" sz="1400" dirty="0">
            <a:solidFill>
              <a:schemeClr val="tx1"/>
            </a:solidFill>
          </a:endParaRPr>
        </a:p>
      </dgm:t>
    </dgm:pt>
    <dgm:pt modelId="{097D3971-A5A5-4E80-96BC-19F3A49C9FC8}" type="sibTrans" cxnId="{2F7BD28F-5794-456F-8581-CFE5D8B65B03}">
      <dgm:prSet/>
      <dgm:spPr/>
      <dgm:t>
        <a:bodyPr/>
        <a:lstStyle/>
        <a:p>
          <a:endParaRPr lang="zh-TW" altLang="en-US"/>
        </a:p>
      </dgm:t>
    </dgm:pt>
    <dgm:pt modelId="{E6437E97-496F-4C1A-B289-57AA0D2D0E6D}" type="parTrans" cxnId="{2F7BD28F-5794-456F-8581-CFE5D8B65B03}">
      <dgm:prSet/>
      <dgm:spPr/>
      <dgm:t>
        <a:bodyPr/>
        <a:lstStyle/>
        <a:p>
          <a:endParaRPr lang="zh-TW" altLang="en-US"/>
        </a:p>
      </dgm:t>
    </dgm:pt>
    <dgm:pt modelId="{39C77FB7-E24E-418E-AC2A-9F2891A93D78}">
      <dgm:prSet phldrT="[文字]" phldr="0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Debounce</a:t>
          </a:r>
          <a:endParaRPr lang="zh-TW" altLang="en-US" dirty="0">
            <a:solidFill>
              <a:schemeClr val="tx1"/>
            </a:solidFill>
          </a:endParaRPr>
        </a:p>
      </dgm:t>
    </dgm:pt>
    <dgm:pt modelId="{EF66B334-FC56-41EA-9B1C-F27146DDBD75}" type="parTrans" cxnId="{5C4B14B0-DA1D-4E94-A36B-31D9CE85F5AF}">
      <dgm:prSet/>
      <dgm:spPr/>
      <dgm:t>
        <a:bodyPr/>
        <a:lstStyle/>
        <a:p>
          <a:endParaRPr lang="zh-TW" altLang="en-US"/>
        </a:p>
      </dgm:t>
    </dgm:pt>
    <dgm:pt modelId="{76C557E8-68CD-42BC-883B-D288DE08379F}" type="sibTrans" cxnId="{5C4B14B0-DA1D-4E94-A36B-31D9CE85F5AF}">
      <dgm:prSet/>
      <dgm:spPr/>
      <dgm:t>
        <a:bodyPr/>
        <a:lstStyle/>
        <a:p>
          <a:endParaRPr lang="zh-TW" altLang="en-US"/>
        </a:p>
      </dgm:t>
    </dgm:pt>
    <dgm:pt modelId="{13B6D438-E041-4C3F-BBDA-3CAC0D2521F2}">
      <dgm:prSet phldrT="[文字]" phldr="0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Baseline_request = Ture</a:t>
          </a:r>
          <a:endParaRPr lang="zh-TW" altLang="en-US" dirty="0">
            <a:solidFill>
              <a:schemeClr val="tx1"/>
            </a:solidFill>
          </a:endParaRPr>
        </a:p>
      </dgm:t>
    </dgm:pt>
    <dgm:pt modelId="{C1AB7AB7-21CB-42C2-B623-FD68E2D9099F}" type="parTrans" cxnId="{B2CD1DDD-A96C-4E5D-83DC-1EE93F8133DC}">
      <dgm:prSet/>
      <dgm:spPr/>
      <dgm:t>
        <a:bodyPr/>
        <a:lstStyle/>
        <a:p>
          <a:endParaRPr lang="zh-TW" altLang="en-US"/>
        </a:p>
      </dgm:t>
    </dgm:pt>
    <dgm:pt modelId="{9CF135CE-47DD-469E-9BDD-36A33BEE96B9}" type="sibTrans" cxnId="{B2CD1DDD-A96C-4E5D-83DC-1EE93F8133DC}">
      <dgm:prSet/>
      <dgm:spPr/>
      <dgm:t>
        <a:bodyPr/>
        <a:lstStyle/>
        <a:p>
          <a:endParaRPr lang="zh-TW" altLang="en-US"/>
        </a:p>
      </dgm:t>
    </dgm:pt>
    <dgm:pt modelId="{6C639B54-76BC-4CBF-A0C9-1C3AE15EC93C}" type="pres">
      <dgm:prSet presAssocID="{7EC3333B-538E-4CE0-8A0E-034671F221D1}" presName="Name0" presStyleCnt="0">
        <dgm:presLayoutVars>
          <dgm:dir/>
          <dgm:resizeHandles val="exact"/>
        </dgm:presLayoutVars>
      </dgm:prSet>
      <dgm:spPr/>
    </dgm:pt>
    <dgm:pt modelId="{3CE0CB66-3EEF-49C1-A950-D9D70F90FA0A}" type="pres">
      <dgm:prSet presAssocID="{D8A928FC-622D-4C3D-91E0-0DDE0D2D8186}" presName="node" presStyleLbl="node1" presStyleIdx="0" presStyleCnt="3">
        <dgm:presLayoutVars>
          <dgm:bulletEnabled val="1"/>
        </dgm:presLayoutVars>
      </dgm:prSet>
      <dgm:spPr/>
    </dgm:pt>
    <dgm:pt modelId="{8359D263-1947-4E1D-A91A-87B4A84BD38A}" type="pres">
      <dgm:prSet presAssocID="{D74E5EE6-55E1-4415-B43A-07E04D4CCFA6}" presName="sibTrans" presStyleLbl="sibTrans2D1" presStyleIdx="0" presStyleCnt="2"/>
      <dgm:spPr/>
    </dgm:pt>
    <dgm:pt modelId="{6E509286-2CA4-4ABB-A84D-E44F767BA73C}" type="pres">
      <dgm:prSet presAssocID="{D74E5EE6-55E1-4415-B43A-07E04D4CCFA6}" presName="connectorText" presStyleLbl="sibTrans2D1" presStyleIdx="0" presStyleCnt="2"/>
      <dgm:spPr/>
    </dgm:pt>
    <dgm:pt modelId="{B815E9B5-524B-4024-B281-2E2A7124A93D}" type="pres">
      <dgm:prSet presAssocID="{64D7CB87-7630-45B7-928A-9DE3BDFA2A90}" presName="node" presStyleLbl="node1" presStyleIdx="1" presStyleCnt="3">
        <dgm:presLayoutVars>
          <dgm:bulletEnabled val="1"/>
        </dgm:presLayoutVars>
      </dgm:prSet>
      <dgm:spPr/>
    </dgm:pt>
    <dgm:pt modelId="{F0E31585-75D0-4EA5-AB4E-C1D98CA19542}" type="pres">
      <dgm:prSet presAssocID="{EB56CB81-234F-432D-8D88-F6D2122FDBFF}" presName="sibTrans" presStyleLbl="sibTrans2D1" presStyleIdx="1" presStyleCnt="2"/>
      <dgm:spPr/>
    </dgm:pt>
    <dgm:pt modelId="{170B1B32-73AA-4C5A-9AFC-115B9D6014B3}" type="pres">
      <dgm:prSet presAssocID="{EB56CB81-234F-432D-8D88-F6D2122FDBFF}" presName="connectorText" presStyleLbl="sibTrans2D1" presStyleIdx="1" presStyleCnt="2"/>
      <dgm:spPr/>
    </dgm:pt>
    <dgm:pt modelId="{B87AA0ED-16B0-4996-8605-25FC7C4B09A0}" type="pres">
      <dgm:prSet presAssocID="{9D94473D-B0F3-4DD0-8A3B-E8DFF9FB61FD}" presName="node" presStyleLbl="node1" presStyleIdx="2" presStyleCnt="3">
        <dgm:presLayoutVars>
          <dgm:bulletEnabled val="1"/>
        </dgm:presLayoutVars>
      </dgm:prSet>
      <dgm:spPr/>
    </dgm:pt>
  </dgm:ptLst>
  <dgm:cxnLst>
    <dgm:cxn modelId="{6BBB3914-DC42-4923-A332-F3445671EB03}" srcId="{64D7CB87-7630-45B7-928A-9DE3BDFA2A90}" destId="{48A20EB5-042C-4E41-879A-4B76D7255A17}" srcOrd="0" destOrd="0" parTransId="{A2FBDEC9-C8F2-42B9-ADB9-AB309320B230}" sibTransId="{94B44119-408E-4C6E-B651-6B56B0561769}"/>
    <dgm:cxn modelId="{27180621-AF74-4F90-B71A-E8CBFF09C849}" type="presOf" srcId="{D74E5EE6-55E1-4415-B43A-07E04D4CCFA6}" destId="{8359D263-1947-4E1D-A91A-87B4A84BD38A}" srcOrd="0" destOrd="0" presId="urn:microsoft.com/office/officeart/2005/8/layout/process1"/>
    <dgm:cxn modelId="{6AAD425D-7A93-4075-A7FB-0A70627EFEF6}" type="presOf" srcId="{EB56CB81-234F-432D-8D88-F6D2122FDBFF}" destId="{170B1B32-73AA-4C5A-9AFC-115B9D6014B3}" srcOrd="1" destOrd="0" presId="urn:microsoft.com/office/officeart/2005/8/layout/process1"/>
    <dgm:cxn modelId="{D510485E-F51F-43C6-AFB8-17351003F317}" type="presOf" srcId="{7EC3333B-538E-4CE0-8A0E-034671F221D1}" destId="{6C639B54-76BC-4CBF-A0C9-1C3AE15EC93C}" srcOrd="0" destOrd="0" presId="urn:microsoft.com/office/officeart/2005/8/layout/process1"/>
    <dgm:cxn modelId="{E8CCB04B-373D-4A59-9D91-AD0E0F89E360}" type="presOf" srcId="{64D7CB87-7630-45B7-928A-9DE3BDFA2A90}" destId="{B815E9B5-524B-4024-B281-2E2A7124A93D}" srcOrd="0" destOrd="0" presId="urn:microsoft.com/office/officeart/2005/8/layout/process1"/>
    <dgm:cxn modelId="{431B246D-4541-4B43-9E67-3F3275861CDB}" srcId="{7EC3333B-538E-4CE0-8A0E-034671F221D1}" destId="{D8A928FC-622D-4C3D-91E0-0DDE0D2D8186}" srcOrd="0" destOrd="0" parTransId="{3EDA1781-7680-4D14-A422-876B80937134}" sibTransId="{D74E5EE6-55E1-4415-B43A-07E04D4CCFA6}"/>
    <dgm:cxn modelId="{BAA93454-1023-422C-B56C-95C877868186}" type="presOf" srcId="{48A20EB5-042C-4E41-879A-4B76D7255A17}" destId="{B815E9B5-524B-4024-B281-2E2A7124A93D}" srcOrd="0" destOrd="1" presId="urn:microsoft.com/office/officeart/2005/8/layout/process1"/>
    <dgm:cxn modelId="{41ED8089-2E63-46C4-9366-34A2B53CA7F9}" srcId="{D8A928FC-622D-4C3D-91E0-0DDE0D2D8186}" destId="{F75BBADB-C898-4C06-A01D-2C278A05733A}" srcOrd="0" destOrd="0" parTransId="{6B0B2103-71C1-4298-8C9D-ACFDC91FE339}" sibTransId="{0285B135-2A61-4124-8B84-39D382FEE921}"/>
    <dgm:cxn modelId="{659DE389-2C0F-4B27-A849-CE088C503160}" type="presOf" srcId="{EB56CB81-234F-432D-8D88-F6D2122FDBFF}" destId="{F0E31585-75D0-4EA5-AB4E-C1D98CA19542}" srcOrd="0" destOrd="0" presId="urn:microsoft.com/office/officeart/2005/8/layout/process1"/>
    <dgm:cxn modelId="{2F7BD28F-5794-456F-8581-CFE5D8B65B03}" srcId="{9D94473D-B0F3-4DD0-8A3B-E8DFF9FB61FD}" destId="{4246BDF0-B8CC-413C-84C5-835943461FFB}" srcOrd="0" destOrd="0" parTransId="{E6437E97-496F-4C1A-B289-57AA0D2D0E6D}" sibTransId="{097D3971-A5A5-4E80-96BC-19F3A49C9FC8}"/>
    <dgm:cxn modelId="{42010990-CC3B-4116-8002-5C892FCCA8E0}" type="presOf" srcId="{39C77FB7-E24E-418E-AC2A-9F2891A93D78}" destId="{3CE0CB66-3EEF-49C1-A950-D9D70F90FA0A}" srcOrd="0" destOrd="2" presId="urn:microsoft.com/office/officeart/2005/8/layout/process1"/>
    <dgm:cxn modelId="{8C973590-CB66-4F49-9F70-641FCC7A7032}" type="presOf" srcId="{D74E5EE6-55E1-4415-B43A-07E04D4CCFA6}" destId="{6E509286-2CA4-4ABB-A84D-E44F767BA73C}" srcOrd="1" destOrd="0" presId="urn:microsoft.com/office/officeart/2005/8/layout/process1"/>
    <dgm:cxn modelId="{8CD90B93-18F0-4490-9F32-27C464A829D4}" type="presOf" srcId="{13B6D438-E041-4C3F-BBDA-3CAC0D2521F2}" destId="{3CE0CB66-3EEF-49C1-A950-D9D70F90FA0A}" srcOrd="0" destOrd="3" presId="urn:microsoft.com/office/officeart/2005/8/layout/process1"/>
    <dgm:cxn modelId="{BB71789D-9F3F-4685-AC9F-4EAEE5F51992}" srcId="{7EC3333B-538E-4CE0-8A0E-034671F221D1}" destId="{9D94473D-B0F3-4DD0-8A3B-E8DFF9FB61FD}" srcOrd="2" destOrd="0" parTransId="{ECF404CB-885C-40F6-8E81-A2F74B641FD0}" sibTransId="{ADD56028-9534-449B-8197-5929D833F61C}"/>
    <dgm:cxn modelId="{5C4B14B0-DA1D-4E94-A36B-31D9CE85F5AF}" srcId="{D8A928FC-622D-4C3D-91E0-0DDE0D2D8186}" destId="{39C77FB7-E24E-418E-AC2A-9F2891A93D78}" srcOrd="1" destOrd="0" parTransId="{EF66B334-FC56-41EA-9B1C-F27146DDBD75}" sibTransId="{76C557E8-68CD-42BC-883B-D288DE08379F}"/>
    <dgm:cxn modelId="{0A0D89BC-9CB1-452A-8FFB-88515996767C}" type="presOf" srcId="{9D94473D-B0F3-4DD0-8A3B-E8DFF9FB61FD}" destId="{B87AA0ED-16B0-4996-8605-25FC7C4B09A0}" srcOrd="0" destOrd="0" presId="urn:microsoft.com/office/officeart/2005/8/layout/process1"/>
    <dgm:cxn modelId="{51DC3BC2-7033-49C3-B490-EB1C3F4760EF}" type="presOf" srcId="{D8A928FC-622D-4C3D-91E0-0DDE0D2D8186}" destId="{3CE0CB66-3EEF-49C1-A950-D9D70F90FA0A}" srcOrd="0" destOrd="0" presId="urn:microsoft.com/office/officeart/2005/8/layout/process1"/>
    <dgm:cxn modelId="{714714CC-3001-4DC3-9A77-476A30B6C8CA}" type="presOf" srcId="{4246BDF0-B8CC-413C-84C5-835943461FFB}" destId="{B87AA0ED-16B0-4996-8605-25FC7C4B09A0}" srcOrd="0" destOrd="1" presId="urn:microsoft.com/office/officeart/2005/8/layout/process1"/>
    <dgm:cxn modelId="{B2CD1DDD-A96C-4E5D-83DC-1EE93F8133DC}" srcId="{D8A928FC-622D-4C3D-91E0-0DDE0D2D8186}" destId="{13B6D438-E041-4C3F-BBDA-3CAC0D2521F2}" srcOrd="2" destOrd="0" parTransId="{C1AB7AB7-21CB-42C2-B623-FD68E2D9099F}" sibTransId="{9CF135CE-47DD-469E-9BDD-36A33BEE96B9}"/>
    <dgm:cxn modelId="{FB0D8DEE-0DEA-461F-A57A-DBAD0ED0B849}" srcId="{7EC3333B-538E-4CE0-8A0E-034671F221D1}" destId="{64D7CB87-7630-45B7-928A-9DE3BDFA2A90}" srcOrd="1" destOrd="0" parTransId="{F7A43833-F0E4-4A8D-9D3D-4269A42A0C19}" sibTransId="{EB56CB81-234F-432D-8D88-F6D2122FDBFF}"/>
    <dgm:cxn modelId="{560F0AFC-6F0C-4CFF-8A38-B3CFE6404E61}" type="presOf" srcId="{F75BBADB-C898-4C06-A01D-2C278A05733A}" destId="{3CE0CB66-3EEF-49C1-A950-D9D70F90FA0A}" srcOrd="0" destOrd="1" presId="urn:microsoft.com/office/officeart/2005/8/layout/process1"/>
    <dgm:cxn modelId="{4AAF96E9-D728-4F87-88CA-4FB588F24C13}" type="presParOf" srcId="{6C639B54-76BC-4CBF-A0C9-1C3AE15EC93C}" destId="{3CE0CB66-3EEF-49C1-A950-D9D70F90FA0A}" srcOrd="0" destOrd="0" presId="urn:microsoft.com/office/officeart/2005/8/layout/process1"/>
    <dgm:cxn modelId="{1529A801-B91E-4D41-BE9A-A2F12C7DD825}" type="presParOf" srcId="{6C639B54-76BC-4CBF-A0C9-1C3AE15EC93C}" destId="{8359D263-1947-4E1D-A91A-87B4A84BD38A}" srcOrd="1" destOrd="0" presId="urn:microsoft.com/office/officeart/2005/8/layout/process1"/>
    <dgm:cxn modelId="{F3231D56-5312-49EB-9A10-D5F3EBF97132}" type="presParOf" srcId="{8359D263-1947-4E1D-A91A-87B4A84BD38A}" destId="{6E509286-2CA4-4ABB-A84D-E44F767BA73C}" srcOrd="0" destOrd="0" presId="urn:microsoft.com/office/officeart/2005/8/layout/process1"/>
    <dgm:cxn modelId="{2D993626-2919-49ED-B999-A5101B24F3A4}" type="presParOf" srcId="{6C639B54-76BC-4CBF-A0C9-1C3AE15EC93C}" destId="{B815E9B5-524B-4024-B281-2E2A7124A93D}" srcOrd="2" destOrd="0" presId="urn:microsoft.com/office/officeart/2005/8/layout/process1"/>
    <dgm:cxn modelId="{8BBD96C7-7D8D-4A68-BFB2-38629D37003D}" type="presParOf" srcId="{6C639B54-76BC-4CBF-A0C9-1C3AE15EC93C}" destId="{F0E31585-75D0-4EA5-AB4E-C1D98CA19542}" srcOrd="3" destOrd="0" presId="urn:microsoft.com/office/officeart/2005/8/layout/process1"/>
    <dgm:cxn modelId="{A044CC8D-B006-4987-99C1-ADBD6DB11F48}" type="presParOf" srcId="{F0E31585-75D0-4EA5-AB4E-C1D98CA19542}" destId="{170B1B32-73AA-4C5A-9AFC-115B9D6014B3}" srcOrd="0" destOrd="0" presId="urn:microsoft.com/office/officeart/2005/8/layout/process1"/>
    <dgm:cxn modelId="{72162F22-6C6E-4126-8C82-BCEA4B75A222}" type="presParOf" srcId="{6C639B54-76BC-4CBF-A0C9-1C3AE15EC93C}" destId="{B87AA0ED-16B0-4996-8605-25FC7C4B09A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8BA2BC-B5C0-4335-83E1-A3762447DF0E}">
      <dsp:nvSpPr>
        <dsp:cNvPr id="0" name=""/>
        <dsp:cNvSpPr/>
      </dsp:nvSpPr>
      <dsp:spPr>
        <a:xfrm rot="5400000">
          <a:off x="196137" y="1022901"/>
          <a:ext cx="877023" cy="99846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5A48B2-6FBF-4A68-AFBF-8145E1B34E04}">
      <dsp:nvSpPr>
        <dsp:cNvPr id="0" name=""/>
        <dsp:cNvSpPr/>
      </dsp:nvSpPr>
      <dsp:spPr>
        <a:xfrm>
          <a:off x="0" y="0"/>
          <a:ext cx="1476391" cy="1033426"/>
        </a:xfrm>
        <a:prstGeom prst="roundRect">
          <a:avLst>
            <a:gd name="adj" fmla="val 16670"/>
          </a:avLst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900" kern="1200" dirty="0">
              <a:solidFill>
                <a:schemeClr val="tx1"/>
              </a:solidFill>
            </a:rPr>
            <a:t>RT</a:t>
          </a:r>
          <a:r>
            <a:rPr lang="zh-TW" altLang="en-US" sz="1900" kern="1200" dirty="0">
              <a:solidFill>
                <a:schemeClr val="tx1"/>
              </a:solidFill>
            </a:rPr>
            <a:t> </a:t>
          </a:r>
          <a:r>
            <a:rPr lang="en-US" altLang="zh-TW" sz="1900" kern="1200" dirty="0">
              <a:solidFill>
                <a:schemeClr val="tx1"/>
              </a:solidFill>
            </a:rPr>
            <a:t>Sampling Thread</a:t>
          </a:r>
          <a:endParaRPr lang="zh-TW" altLang="en-US" sz="1900" kern="1200" dirty="0">
            <a:solidFill>
              <a:schemeClr val="tx1"/>
            </a:solidFill>
          </a:endParaRPr>
        </a:p>
      </dsp:txBody>
      <dsp:txXfrm>
        <a:off x="50457" y="50457"/>
        <a:ext cx="1375477" cy="932512"/>
      </dsp:txXfrm>
    </dsp:sp>
    <dsp:sp modelId="{597F0ADD-E273-4560-BE24-AD116490AEEA}">
      <dsp:nvSpPr>
        <dsp:cNvPr id="0" name=""/>
        <dsp:cNvSpPr/>
      </dsp:nvSpPr>
      <dsp:spPr>
        <a:xfrm>
          <a:off x="1580381" y="154745"/>
          <a:ext cx="3224989" cy="824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500" kern="1200" dirty="0"/>
            <a:t>1kHz frequency reading MPU6050</a:t>
          </a:r>
          <a:endParaRPr lang="zh-TW" altLang="en-US" sz="1500" kern="1200" dirty="0"/>
        </a:p>
      </dsp:txBody>
      <dsp:txXfrm>
        <a:off x="1580381" y="154745"/>
        <a:ext cx="3224989" cy="824293"/>
      </dsp:txXfrm>
    </dsp:sp>
    <dsp:sp modelId="{C9CBE86C-1099-43A9-B64D-4559A35EE59D}">
      <dsp:nvSpPr>
        <dsp:cNvPr id="0" name=""/>
        <dsp:cNvSpPr/>
      </dsp:nvSpPr>
      <dsp:spPr>
        <a:xfrm rot="5400000">
          <a:off x="1448563" y="2160336"/>
          <a:ext cx="877023" cy="99846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7AB18A-AAA7-41A4-BB02-042A688D3FC0}">
      <dsp:nvSpPr>
        <dsp:cNvPr id="0" name=""/>
        <dsp:cNvSpPr/>
      </dsp:nvSpPr>
      <dsp:spPr>
        <a:xfrm>
          <a:off x="1114603" y="1094353"/>
          <a:ext cx="1476391" cy="1033426"/>
        </a:xfrm>
        <a:prstGeom prst="roundRect">
          <a:avLst>
            <a:gd name="adj" fmla="val 16670"/>
          </a:avLst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900" kern="1200" dirty="0">
              <a:solidFill>
                <a:schemeClr val="tx1"/>
              </a:solidFill>
            </a:rPr>
            <a:t>DSP Thread</a:t>
          </a:r>
          <a:endParaRPr lang="zh-TW" altLang="en-US" sz="1900" kern="1200" dirty="0">
            <a:solidFill>
              <a:schemeClr val="tx1"/>
            </a:solidFill>
          </a:endParaRPr>
        </a:p>
      </dsp:txBody>
      <dsp:txXfrm>
        <a:off x="1165060" y="1144810"/>
        <a:ext cx="1375477" cy="932512"/>
      </dsp:txXfrm>
    </dsp:sp>
    <dsp:sp modelId="{F630EA04-6A97-4E7F-B36C-AAF5FCFDBDE1}">
      <dsp:nvSpPr>
        <dsp:cNvPr id="0" name=""/>
        <dsp:cNvSpPr/>
      </dsp:nvSpPr>
      <dsp:spPr>
        <a:xfrm>
          <a:off x="2576283" y="1239803"/>
          <a:ext cx="3851876" cy="835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500" kern="1200" dirty="0"/>
            <a:t>FFT tests for anomaly, RMS, and Kurtosis</a:t>
          </a:r>
          <a:endParaRPr lang="zh-TW" altLang="en-US" sz="1500" kern="1200" dirty="0"/>
        </a:p>
      </dsp:txBody>
      <dsp:txXfrm>
        <a:off x="2576283" y="1239803"/>
        <a:ext cx="3851876" cy="835260"/>
      </dsp:txXfrm>
    </dsp:sp>
    <dsp:sp modelId="{D20346AF-5BE3-4AD4-BCC9-50BEF3496D54}">
      <dsp:nvSpPr>
        <dsp:cNvPr id="0" name=""/>
        <dsp:cNvSpPr/>
      </dsp:nvSpPr>
      <dsp:spPr>
        <a:xfrm>
          <a:off x="2432951" y="2360648"/>
          <a:ext cx="1476391" cy="1033426"/>
        </a:xfrm>
        <a:prstGeom prst="roundRect">
          <a:avLst>
            <a:gd name="adj" fmla="val 16670"/>
          </a:avLst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900" kern="1200" dirty="0">
              <a:solidFill>
                <a:schemeClr val="tx1"/>
              </a:solidFill>
            </a:rPr>
            <a:t>Baseline Manager</a:t>
          </a:r>
          <a:endParaRPr lang="zh-TW" altLang="en-US" sz="1900" kern="1200" dirty="0">
            <a:solidFill>
              <a:schemeClr val="tx1"/>
            </a:solidFill>
          </a:endParaRPr>
        </a:p>
      </dsp:txBody>
      <dsp:txXfrm>
        <a:off x="2483408" y="2411105"/>
        <a:ext cx="1375477" cy="932512"/>
      </dsp:txXfrm>
    </dsp:sp>
    <dsp:sp modelId="{8FD225F3-B44A-45B7-B0C3-B94DE0D61B51}">
      <dsp:nvSpPr>
        <dsp:cNvPr id="0" name=""/>
        <dsp:cNvSpPr/>
      </dsp:nvSpPr>
      <dsp:spPr>
        <a:xfrm>
          <a:off x="3991692" y="2715358"/>
          <a:ext cx="3628840" cy="534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500" kern="1200" dirty="0"/>
            <a:t>Monitoring or rebuilding baseline</a:t>
          </a:r>
          <a:endParaRPr lang="zh-TW" altLang="en-US" sz="1500" kern="1200" dirty="0"/>
        </a:p>
      </dsp:txBody>
      <dsp:txXfrm>
        <a:off x="3991692" y="2715358"/>
        <a:ext cx="3628840" cy="5341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E0CB66-3EEF-49C1-A950-D9D70F90FA0A}">
      <dsp:nvSpPr>
        <dsp:cNvPr id="0" name=""/>
        <dsp:cNvSpPr/>
      </dsp:nvSpPr>
      <dsp:spPr>
        <a:xfrm>
          <a:off x="7233" y="1048474"/>
          <a:ext cx="2161877" cy="1297126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 dirty="0">
              <a:solidFill>
                <a:schemeClr val="tx1"/>
              </a:solidFill>
            </a:rPr>
            <a:t>1. Button Thread</a:t>
          </a:r>
          <a:endParaRPr lang="zh-TW" altLang="en-US" sz="18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400" kern="1200" dirty="0">
              <a:solidFill>
                <a:schemeClr val="tx1"/>
              </a:solidFill>
            </a:rPr>
            <a:t>Detect falling edge</a:t>
          </a:r>
          <a:endParaRPr lang="zh-TW" altLang="en-US" sz="14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400" kern="1200" dirty="0">
              <a:solidFill>
                <a:schemeClr val="tx1"/>
              </a:solidFill>
            </a:rPr>
            <a:t>Debounce</a:t>
          </a:r>
          <a:endParaRPr lang="zh-TW" altLang="en-US" sz="14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400" kern="1200" dirty="0">
              <a:solidFill>
                <a:schemeClr val="tx1"/>
              </a:solidFill>
            </a:rPr>
            <a:t>Baseline_request = Ture</a:t>
          </a:r>
          <a:endParaRPr lang="zh-TW" altLang="en-US" sz="1400" kern="1200" dirty="0">
            <a:solidFill>
              <a:schemeClr val="tx1"/>
            </a:solidFill>
          </a:endParaRPr>
        </a:p>
      </dsp:txBody>
      <dsp:txXfrm>
        <a:off x="45225" y="1086466"/>
        <a:ext cx="2085893" cy="1221142"/>
      </dsp:txXfrm>
    </dsp:sp>
    <dsp:sp modelId="{8359D263-1947-4E1D-A91A-87B4A84BD38A}">
      <dsp:nvSpPr>
        <dsp:cNvPr id="0" name=""/>
        <dsp:cNvSpPr/>
      </dsp:nvSpPr>
      <dsp:spPr>
        <a:xfrm>
          <a:off x="2385298" y="1428964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400" kern="1200"/>
        </a:p>
      </dsp:txBody>
      <dsp:txXfrm>
        <a:off x="2385298" y="1536193"/>
        <a:ext cx="320822" cy="321687"/>
      </dsp:txXfrm>
    </dsp:sp>
    <dsp:sp modelId="{B815E9B5-524B-4024-B281-2E2A7124A93D}">
      <dsp:nvSpPr>
        <dsp:cNvPr id="0" name=""/>
        <dsp:cNvSpPr/>
      </dsp:nvSpPr>
      <dsp:spPr>
        <a:xfrm>
          <a:off x="3033861" y="1048474"/>
          <a:ext cx="2161877" cy="1297126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 dirty="0">
              <a:solidFill>
                <a:schemeClr val="tx1"/>
              </a:solidFill>
            </a:rPr>
            <a:t>2. DSP Thread</a:t>
          </a:r>
          <a:endParaRPr lang="zh-TW" altLang="en-US" sz="18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400" kern="1200" dirty="0">
              <a:solidFill>
                <a:schemeClr val="tx1"/>
              </a:solidFill>
            </a:rPr>
            <a:t>If Baseline_request :</a:t>
          </a:r>
          <a:br>
            <a:rPr lang="en-US" altLang="zh-TW" sz="1400" kern="1200" dirty="0">
              <a:solidFill>
                <a:schemeClr val="tx1"/>
              </a:solidFill>
            </a:rPr>
          </a:br>
          <a:r>
            <a:rPr lang="en-US" altLang="zh-TW" sz="1400" kern="1200" dirty="0">
              <a:solidFill>
                <a:schemeClr val="tx1"/>
              </a:solidFill>
            </a:rPr>
            <a:t>Start collection</a:t>
          </a:r>
          <a:endParaRPr lang="zh-TW" altLang="en-US" sz="1400" kern="1200" dirty="0">
            <a:solidFill>
              <a:schemeClr val="tx1"/>
            </a:solidFill>
          </a:endParaRPr>
        </a:p>
      </dsp:txBody>
      <dsp:txXfrm>
        <a:off x="3071853" y="1086466"/>
        <a:ext cx="2085893" cy="1221142"/>
      </dsp:txXfrm>
    </dsp:sp>
    <dsp:sp modelId="{F0E31585-75D0-4EA5-AB4E-C1D98CA19542}">
      <dsp:nvSpPr>
        <dsp:cNvPr id="0" name=""/>
        <dsp:cNvSpPr/>
      </dsp:nvSpPr>
      <dsp:spPr>
        <a:xfrm>
          <a:off x="5411926" y="1428964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400" kern="1200"/>
        </a:p>
      </dsp:txBody>
      <dsp:txXfrm>
        <a:off x="5411926" y="1536193"/>
        <a:ext cx="320822" cy="321687"/>
      </dsp:txXfrm>
    </dsp:sp>
    <dsp:sp modelId="{B87AA0ED-16B0-4996-8605-25FC7C4B09A0}">
      <dsp:nvSpPr>
        <dsp:cNvPr id="0" name=""/>
        <dsp:cNvSpPr/>
      </dsp:nvSpPr>
      <dsp:spPr>
        <a:xfrm>
          <a:off x="6060489" y="1048474"/>
          <a:ext cx="2161877" cy="1297126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 dirty="0">
              <a:solidFill>
                <a:schemeClr val="tx1"/>
              </a:solidFill>
            </a:rPr>
            <a:t>3. Collect Frames</a:t>
          </a:r>
          <a:endParaRPr lang="zh-TW" altLang="en-US" sz="18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400" kern="1200" dirty="0">
              <a:solidFill>
                <a:schemeClr val="tx1"/>
              </a:solidFill>
            </a:rPr>
            <a:t>Mean &amp; std of RMS, harmonic for FFT </a:t>
          </a:r>
          <a:br>
            <a:rPr lang="en-US" altLang="zh-TW" sz="1400" kern="1200" dirty="0">
              <a:solidFill>
                <a:schemeClr val="tx1"/>
              </a:solidFill>
            </a:rPr>
          </a:br>
          <a:r>
            <a:rPr lang="en-US" altLang="zh-TW" sz="1400" kern="1200" dirty="0">
              <a:solidFill>
                <a:schemeClr val="tx1"/>
              </a:solidFill>
            </a:rPr>
            <a:t>512 bits</a:t>
          </a:r>
          <a:endParaRPr lang="zh-TW" altLang="en-US" sz="1400" kern="1200" dirty="0">
            <a:solidFill>
              <a:schemeClr val="tx1"/>
            </a:solidFill>
          </a:endParaRPr>
        </a:p>
      </dsp:txBody>
      <dsp:txXfrm>
        <a:off x="6098481" y="1086466"/>
        <a:ext cx="2085893" cy="12211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8D34E-C49B-42EF-A88F-98CF3BA2E8EB}" type="datetimeFigureOut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B18CE-2AE0-456C-82A3-FD85F0C3A6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0376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 dirty="0"/>
              <a:t>傳統 </a:t>
            </a:r>
            <a:r>
              <a:rPr lang="en-US" altLang="zh-TW" dirty="0"/>
              <a:t>Linux </a:t>
            </a:r>
            <a:r>
              <a:rPr lang="zh-TW" altLang="en-US" dirty="0"/>
              <a:t>在高頻採樣時容易受到排程延遲影響</a:t>
            </a:r>
          </a:p>
          <a:p>
            <a:pPr lvl="0"/>
            <a:r>
              <a:rPr lang="en-US" altLang="zh-TW" dirty="0"/>
              <a:t>PREEMPT_RT </a:t>
            </a:r>
            <a:r>
              <a:rPr lang="zh-TW" altLang="en-US" dirty="0"/>
              <a:t>可降低排程不確定性，提高採樣穩定度</a:t>
            </a:r>
          </a:p>
          <a:p>
            <a:pPr lvl="0"/>
            <a:r>
              <a:rPr lang="zh-TW" altLang="en-US" dirty="0"/>
              <a:t>振動頻譜可反映軸承磨損、螺絲鬆動、葉片失衡等異常</a:t>
            </a:r>
          </a:p>
          <a:p>
            <a:pPr lvl="0"/>
            <a:r>
              <a:rPr lang="zh-TW" altLang="en-US" dirty="0"/>
              <a:t>以低成本感測器與開源平台實作 </a:t>
            </a:r>
            <a:r>
              <a:rPr lang="en-US" altLang="zh-TW" dirty="0"/>
              <a:t>predictive maintenance prototype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B18CE-2AE0-456C-82A3-FD85F0C3A62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7447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rPr lang="en-US" altLang="zh-TW" dirty="0"/>
              <a:t>MPU6050 </a:t>
            </a:r>
            <a:r>
              <a:rPr lang="zh-TW" altLang="en-US" dirty="0"/>
              <a:t>感測風扇或機械設備振動</a:t>
            </a:r>
          </a:p>
          <a:p>
            <a:pPr marL="342900" lvl="0" indent="-342900">
              <a:buAutoNum type="arabicPeriod"/>
            </a:pPr>
            <a:r>
              <a:rPr lang="en-US" altLang="zh-TW" dirty="0"/>
              <a:t>Raspberry Pi </a:t>
            </a:r>
            <a:r>
              <a:rPr lang="zh-TW" altLang="en-US" dirty="0"/>
              <a:t>透過 </a:t>
            </a:r>
            <a:r>
              <a:rPr lang="en-US" altLang="zh-TW" dirty="0"/>
              <a:t>I2C </a:t>
            </a:r>
            <a:r>
              <a:rPr lang="zh-TW" altLang="en-US" dirty="0"/>
              <a:t>讀取三軸 </a:t>
            </a:r>
            <a:r>
              <a:rPr lang="en-US" altLang="zh-TW" dirty="0"/>
              <a:t>raw acceleration</a:t>
            </a:r>
          </a:p>
          <a:p>
            <a:pPr marL="342900" lvl="0" indent="-342900">
              <a:buAutoNum type="arabicPeriod"/>
            </a:pPr>
            <a:r>
              <a:rPr lang="en-US" altLang="zh-TW" dirty="0"/>
              <a:t>Sampling thread </a:t>
            </a:r>
            <a:r>
              <a:rPr lang="zh-TW" altLang="en-US" dirty="0"/>
              <a:t>以 </a:t>
            </a:r>
            <a:r>
              <a:rPr lang="en-US" altLang="zh-TW" dirty="0"/>
              <a:t>1 kHz </a:t>
            </a:r>
            <a:r>
              <a:rPr lang="zh-TW" altLang="en-US" dirty="0"/>
              <a:t>週期取樣並轉換為 </a:t>
            </a:r>
            <a:r>
              <a:rPr lang="en-US" altLang="zh-TW" dirty="0"/>
              <a:t>g</a:t>
            </a:r>
          </a:p>
          <a:p>
            <a:pPr marL="342900" lvl="0" indent="-342900">
              <a:buAutoNum type="arabicPeriod"/>
            </a:pPr>
            <a:r>
              <a:rPr lang="en-US" altLang="zh-TW" dirty="0"/>
              <a:t>DSP thread </a:t>
            </a:r>
            <a:r>
              <a:rPr lang="zh-TW" altLang="en-US" dirty="0"/>
              <a:t>對每 </a:t>
            </a:r>
            <a:r>
              <a:rPr lang="en-US" altLang="zh-TW" dirty="0"/>
              <a:t>512 </a:t>
            </a:r>
            <a:r>
              <a:rPr lang="zh-TW" altLang="en-US" dirty="0"/>
              <a:t>筆 </a:t>
            </a:r>
            <a:r>
              <a:rPr lang="en-US" altLang="zh-TW" dirty="0"/>
              <a:t>frame </a:t>
            </a:r>
            <a:r>
              <a:rPr lang="zh-TW" altLang="en-US" dirty="0"/>
              <a:t>做 </a:t>
            </a:r>
            <a:r>
              <a:rPr lang="en-US" altLang="zh-TW" dirty="0"/>
              <a:t>FFT </a:t>
            </a:r>
            <a:r>
              <a:rPr lang="zh-TW" altLang="en-US" dirty="0"/>
              <a:t>與特徵萃取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B18CE-2AE0-456C-82A3-FD85F0C3A62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5167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rPr lang="en-US" altLang="zh-TW" dirty="0"/>
              <a:t>Baseline model </a:t>
            </a:r>
            <a:r>
              <a:rPr lang="zh-TW" altLang="en-US" dirty="0"/>
              <a:t>建立正常狀態參考</a:t>
            </a:r>
          </a:p>
          <a:p>
            <a:pPr marL="342900" lvl="0" indent="-342900">
              <a:buAutoNum type="arabicPeriod"/>
            </a:pPr>
            <a:r>
              <a:rPr lang="en-US" altLang="zh-TW" dirty="0"/>
              <a:t>Anomaly score </a:t>
            </a:r>
            <a:r>
              <a:rPr lang="zh-TW" altLang="en-US" dirty="0"/>
              <a:t>判斷 </a:t>
            </a:r>
            <a:r>
              <a:rPr lang="en-US" altLang="zh-TW" dirty="0"/>
              <a:t>NORMAL / WARNING / ALERT</a:t>
            </a:r>
          </a:p>
          <a:p>
            <a:pPr marL="342900" lvl="0" indent="-342900">
              <a:buAutoNum type="arabicPeriod"/>
            </a:pPr>
            <a:r>
              <a:rPr lang="en-US" altLang="zh-TW" dirty="0"/>
              <a:t>Logging thread </a:t>
            </a:r>
            <a:r>
              <a:rPr lang="zh-TW" altLang="en-US" dirty="0"/>
              <a:t>輸出即時診斷結果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B18CE-2AE0-456C-82A3-FD85F0C3A629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3449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 dirty="0"/>
              <a:t>使用 </a:t>
            </a:r>
            <a:r>
              <a:rPr lang="en-US" altLang="zh-TW" dirty="0" err="1">
                <a:latin typeface="Courier"/>
              </a:rPr>
              <a:t>clock_nanosleep</a:t>
            </a:r>
            <a:r>
              <a:rPr lang="en-US" altLang="zh-TW" dirty="0">
                <a:latin typeface="Courier"/>
              </a:rPr>
              <a:t>(CLOCK_MONOTONIC, TIMER_ABSTIME, ...)</a:t>
            </a:r>
          </a:p>
          <a:p>
            <a:pPr lvl="0"/>
            <a:r>
              <a:rPr lang="zh-TW" altLang="en-US" dirty="0"/>
              <a:t>每 </a:t>
            </a:r>
            <a:r>
              <a:rPr lang="en-US" altLang="zh-TW" dirty="0"/>
              <a:t>1 </a:t>
            </a:r>
            <a:r>
              <a:rPr lang="en-US" altLang="zh-TW" dirty="0" err="1"/>
              <a:t>ms</a:t>
            </a:r>
            <a:r>
              <a:rPr lang="en-US" altLang="zh-TW" dirty="0"/>
              <a:t> </a:t>
            </a:r>
            <a:r>
              <a:rPr lang="zh-TW" altLang="en-US" dirty="0"/>
              <a:t>讀取一次 </a:t>
            </a:r>
            <a:r>
              <a:rPr lang="en-US" altLang="zh-TW" dirty="0"/>
              <a:t>MPU6050 </a:t>
            </a:r>
            <a:r>
              <a:rPr lang="zh-TW" altLang="en-US" dirty="0"/>
              <a:t>三軸資料</a:t>
            </a:r>
          </a:p>
          <a:p>
            <a:pPr lvl="0"/>
            <a:r>
              <a:rPr lang="en-US" altLang="zh-TW" dirty="0"/>
              <a:t>Raw data </a:t>
            </a:r>
            <a:r>
              <a:rPr lang="zh-TW" altLang="en-US" dirty="0"/>
              <a:t>依 </a:t>
            </a:r>
            <a:r>
              <a:rPr lang="en-US" altLang="zh-TW" dirty="0"/>
              <a:t>±2g </a:t>
            </a:r>
            <a:r>
              <a:rPr lang="zh-TW" altLang="en-US" dirty="0"/>
              <a:t>靈敏度轉換為 </a:t>
            </a:r>
            <a:r>
              <a:rPr lang="en-US" altLang="zh-TW" dirty="0"/>
              <a:t>g</a:t>
            </a:r>
          </a:p>
          <a:p>
            <a:pPr lvl="0"/>
            <a:r>
              <a:rPr lang="zh-TW" altLang="en-US" dirty="0"/>
              <a:t>使用 </a:t>
            </a:r>
            <a:r>
              <a:rPr lang="en-US" altLang="zh-TW" dirty="0"/>
              <a:t>EMA high-pass </a:t>
            </a:r>
            <a:r>
              <a:rPr lang="zh-TW" altLang="en-US" dirty="0"/>
              <a:t>去除 </a:t>
            </a:r>
            <a:r>
              <a:rPr lang="en-US" altLang="zh-TW" dirty="0"/>
              <a:t>DC </a:t>
            </a:r>
            <a:r>
              <a:rPr lang="zh-TW" altLang="en-US" dirty="0"/>
              <a:t>與重力偏移</a:t>
            </a:r>
          </a:p>
          <a:p>
            <a:pPr lvl="0"/>
            <a:r>
              <a:rPr lang="zh-TW" altLang="en-US" dirty="0"/>
              <a:t>採用 </a:t>
            </a:r>
            <a:r>
              <a:rPr lang="en-US" altLang="zh-TW" dirty="0"/>
              <a:t>double buffer</a:t>
            </a:r>
            <a:r>
              <a:rPr lang="zh-TW" altLang="en-US" dirty="0"/>
              <a:t>，降低 </a:t>
            </a:r>
            <a:r>
              <a:rPr lang="en-US" altLang="zh-TW" dirty="0"/>
              <a:t>sampling thread </a:t>
            </a:r>
            <a:r>
              <a:rPr lang="zh-TW" altLang="en-US" dirty="0"/>
              <a:t>被 </a:t>
            </a:r>
            <a:r>
              <a:rPr lang="en-US" altLang="zh-TW" dirty="0"/>
              <a:t>DSP </a:t>
            </a:r>
            <a:r>
              <a:rPr lang="zh-TW" altLang="en-US" dirty="0"/>
              <a:t>阻塞的機率</a:t>
            </a:r>
          </a:p>
          <a:p>
            <a:pPr lvl="0"/>
            <a:r>
              <a:rPr lang="zh-TW" altLang="en-US" dirty="0"/>
              <a:t>記錄 </a:t>
            </a:r>
            <a:r>
              <a:rPr lang="en-US" altLang="zh-TW" dirty="0" err="1">
                <a:latin typeface="Courier"/>
              </a:rPr>
              <a:t>sampling_overruns</a:t>
            </a:r>
            <a:r>
              <a:rPr lang="en-US" altLang="zh-TW" dirty="0"/>
              <a:t> </a:t>
            </a:r>
            <a:r>
              <a:rPr lang="zh-TW" altLang="en-US" dirty="0"/>
              <a:t>與 </a:t>
            </a:r>
            <a:r>
              <a:rPr lang="en-US" altLang="zh-TW" dirty="0" err="1">
                <a:latin typeface="Courier"/>
              </a:rPr>
              <a:t>missed_frames</a:t>
            </a:r>
            <a:endParaRPr lang="en-US" altLang="zh-TW" dirty="0">
              <a:latin typeface="Courier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B18CE-2AE0-456C-82A3-FD85F0C3A629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6553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  <a:p>
            <a:pPr lvl="0"/>
            <a:r>
              <a:rPr lang="zh-TW" altLang="en-US" dirty="0"/>
              <a:t>每 </a:t>
            </a:r>
            <a:r>
              <a:rPr lang="en-US" altLang="zh-TW" dirty="0"/>
              <a:t>512 </a:t>
            </a:r>
            <a:r>
              <a:rPr lang="zh-TW" altLang="en-US" dirty="0"/>
              <a:t>筆 </a:t>
            </a:r>
            <a:r>
              <a:rPr lang="en-US" altLang="zh-TW" dirty="0"/>
              <a:t>samples </a:t>
            </a:r>
            <a:r>
              <a:rPr lang="zh-TW" altLang="en-US" dirty="0"/>
              <a:t>形成一個 </a:t>
            </a:r>
            <a:r>
              <a:rPr lang="en-US" altLang="zh-TW" dirty="0"/>
              <a:t>frame</a:t>
            </a:r>
          </a:p>
          <a:p>
            <a:pPr lvl="0"/>
            <a:r>
              <a:rPr lang="en-US" altLang="zh-TW" dirty="0"/>
              <a:t>X/Y/Z </a:t>
            </a:r>
            <a:r>
              <a:rPr lang="zh-TW" altLang="en-US" dirty="0"/>
              <a:t>三軸分別進行 </a:t>
            </a:r>
            <a:r>
              <a:rPr lang="en-US" altLang="zh-TW" dirty="0"/>
              <a:t>radix-2 FFT</a:t>
            </a:r>
          </a:p>
          <a:p>
            <a:pPr lvl="0"/>
            <a:r>
              <a:rPr lang="en-US" altLang="zh-TW" dirty="0"/>
              <a:t>FFT </a:t>
            </a:r>
            <a:r>
              <a:rPr lang="zh-TW" altLang="en-US" dirty="0"/>
              <a:t>前進行 </a:t>
            </a:r>
            <a:r>
              <a:rPr lang="en-US" altLang="zh-TW" dirty="0"/>
              <a:t>mean removal </a:t>
            </a:r>
            <a:r>
              <a:rPr lang="zh-TW" altLang="en-US" dirty="0"/>
              <a:t>與 </a:t>
            </a:r>
            <a:r>
              <a:rPr lang="en-US" altLang="zh-TW" dirty="0"/>
              <a:t>Hanning window</a:t>
            </a:r>
          </a:p>
          <a:p>
            <a:pPr lvl="0"/>
            <a:r>
              <a:rPr lang="zh-TW" altLang="en-US" dirty="0"/>
              <a:t>頻率解析度約為 </a:t>
            </a:r>
            <a:r>
              <a:rPr lang="en-US" altLang="zh-TW" dirty="0"/>
              <a:t>1.953 Hz</a:t>
            </a:r>
          </a:p>
          <a:p>
            <a:pPr lvl="0"/>
            <a:r>
              <a:rPr lang="zh-TW" altLang="en-US" dirty="0"/>
              <a:t>搜尋 </a:t>
            </a:r>
            <a:r>
              <a:rPr lang="en-US" altLang="zh-TW" dirty="0"/>
              <a:t>20 Hz </a:t>
            </a:r>
            <a:r>
              <a:rPr lang="zh-TW" altLang="en-US" dirty="0"/>
              <a:t>到 </a:t>
            </a:r>
            <a:r>
              <a:rPr lang="en-US" altLang="zh-TW" dirty="0"/>
              <a:t>300 Hz </a:t>
            </a:r>
            <a:r>
              <a:rPr lang="zh-TW" altLang="en-US" dirty="0"/>
              <a:t>的主頻</a:t>
            </a:r>
          </a:p>
          <a:p>
            <a:pPr lvl="0"/>
            <a:r>
              <a:rPr lang="zh-TW" altLang="en-US" dirty="0"/>
              <a:t>使用 </a:t>
            </a:r>
            <a:r>
              <a:rPr lang="en-US" altLang="zh-TW" dirty="0"/>
              <a:t>parabolic interpolation </a:t>
            </a:r>
            <a:r>
              <a:rPr lang="zh-TW" altLang="en-US" dirty="0"/>
              <a:t>降低 </a:t>
            </a:r>
            <a:r>
              <a:rPr lang="en-US" altLang="zh-TW" dirty="0"/>
              <a:t>bin-to-bin jitter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B18CE-2AE0-456C-82A3-FD85F0C3A629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913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 dirty="0"/>
              <a:t>按下 </a:t>
            </a:r>
            <a:r>
              <a:rPr lang="en-US" altLang="zh-TW" dirty="0"/>
              <a:t>GPIO17 </a:t>
            </a:r>
            <a:r>
              <a:rPr lang="zh-TW" altLang="en-US" dirty="0"/>
              <a:t>按鈕後開始收集 </a:t>
            </a:r>
            <a:r>
              <a:rPr lang="en-US" altLang="zh-TW" dirty="0"/>
              <a:t>baseline</a:t>
            </a:r>
          </a:p>
          <a:p>
            <a:pPr lvl="0"/>
            <a:r>
              <a:rPr lang="zh-TW" altLang="en-US" dirty="0"/>
              <a:t>收集 </a:t>
            </a:r>
            <a:r>
              <a:rPr lang="en-US" altLang="zh-TW" dirty="0"/>
              <a:t>20 </a:t>
            </a:r>
            <a:r>
              <a:rPr lang="zh-TW" altLang="en-US" dirty="0"/>
              <a:t>個完整 </a:t>
            </a:r>
            <a:r>
              <a:rPr lang="en-US" altLang="zh-TW" dirty="0"/>
              <a:t>frame </a:t>
            </a:r>
            <a:r>
              <a:rPr lang="zh-TW" altLang="en-US" dirty="0"/>
              <a:t>作為正常狀態模型</a:t>
            </a:r>
          </a:p>
          <a:p>
            <a:pPr lvl="0"/>
            <a:r>
              <a:rPr lang="en-US" altLang="zh-TW" dirty="0"/>
              <a:t>Baseline </a:t>
            </a:r>
            <a:r>
              <a:rPr lang="zh-TW" altLang="en-US" dirty="0"/>
              <a:t>儲存平均值與標準差</a:t>
            </a:r>
          </a:p>
          <a:p>
            <a:pPr lvl="0"/>
            <a:r>
              <a:rPr lang="zh-TW" altLang="en-US" dirty="0"/>
              <a:t>異常分數使用 </a:t>
            </a:r>
            <a:r>
              <a:rPr lang="en-US" altLang="zh-TW" dirty="0"/>
              <a:t>weighted z-score</a:t>
            </a:r>
            <a:r>
              <a:rPr lang="zh-TW" altLang="en-US" dirty="0"/>
              <a:t>：</a:t>
            </a:r>
          </a:p>
          <a:p>
            <a:pPr lvl="1"/>
            <a:r>
              <a:rPr lang="en-US" altLang="zh-TW" dirty="0"/>
              <a:t>RMS total</a:t>
            </a:r>
          </a:p>
          <a:p>
            <a:pPr lvl="1"/>
            <a:r>
              <a:rPr lang="en-US" altLang="zh-TW" dirty="0"/>
              <a:t>Z </a:t>
            </a:r>
            <a:r>
              <a:rPr lang="zh-TW" altLang="en-US" dirty="0"/>
              <a:t>軸 </a:t>
            </a:r>
            <a:r>
              <a:rPr lang="en-US" altLang="zh-TW" dirty="0"/>
              <a:t>dominant frequency</a:t>
            </a:r>
          </a:p>
          <a:p>
            <a:pPr lvl="1"/>
            <a:r>
              <a:rPr lang="en-US" altLang="zh-TW" dirty="0"/>
              <a:t>Z </a:t>
            </a:r>
            <a:r>
              <a:rPr lang="zh-TW" altLang="en-US" dirty="0"/>
              <a:t>軸 </a:t>
            </a:r>
            <a:r>
              <a:rPr lang="en-US" altLang="zh-TW" dirty="0"/>
              <a:t>ratio 2X/1X</a:t>
            </a:r>
          </a:p>
          <a:p>
            <a:pPr lvl="1"/>
            <a:r>
              <a:rPr lang="en-US" altLang="zh-TW" dirty="0"/>
              <a:t>Z </a:t>
            </a:r>
            <a:r>
              <a:rPr lang="zh-TW" altLang="en-US" dirty="0"/>
              <a:t>軸 </a:t>
            </a:r>
            <a:r>
              <a:rPr lang="en-US" altLang="zh-TW" dirty="0"/>
              <a:t>ratio 3X/1X</a:t>
            </a:r>
          </a:p>
          <a:p>
            <a:pPr lvl="0"/>
            <a:r>
              <a:rPr lang="en-US" altLang="zh-TW" dirty="0"/>
              <a:t>Score &gt;= 3</a:t>
            </a:r>
            <a:r>
              <a:rPr lang="zh-TW" altLang="en-US" dirty="0"/>
              <a:t>：</a:t>
            </a:r>
            <a:r>
              <a:rPr lang="en-US" altLang="zh-TW" dirty="0"/>
              <a:t>WARNING</a:t>
            </a:r>
          </a:p>
          <a:p>
            <a:pPr lvl="0"/>
            <a:r>
              <a:rPr lang="en-US" altLang="zh-TW" dirty="0"/>
              <a:t>Score &gt;= 6</a:t>
            </a:r>
            <a:r>
              <a:rPr lang="zh-TW" altLang="en-US" dirty="0"/>
              <a:t>：</a:t>
            </a:r>
            <a:r>
              <a:rPr lang="en-US" altLang="zh-TW" dirty="0"/>
              <a:t>ALERT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B18CE-2AE0-456C-82A3-FD85F0C3A629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6903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 dirty="0"/>
              <a:t>核心監測演算法：高</a:t>
            </a:r>
          </a:p>
          <a:p>
            <a:pPr lvl="0"/>
            <a:r>
              <a:rPr lang="zh-TW" altLang="en-US" dirty="0"/>
              <a:t>即時採樣 </a:t>
            </a:r>
            <a:r>
              <a:rPr lang="en-US" altLang="zh-TW" dirty="0"/>
              <a:t>pipeline</a:t>
            </a:r>
            <a:r>
              <a:rPr lang="zh-TW" altLang="en-US" dirty="0"/>
              <a:t>：高</a:t>
            </a:r>
          </a:p>
          <a:p>
            <a:pPr lvl="0"/>
            <a:r>
              <a:rPr lang="zh-TW" altLang="en-US" dirty="0"/>
              <a:t>異常偵測 </a:t>
            </a:r>
            <a:r>
              <a:rPr lang="en-US" altLang="zh-TW" dirty="0"/>
              <a:t>prototype</a:t>
            </a:r>
            <a:r>
              <a:rPr lang="zh-TW" altLang="en-US" dirty="0"/>
              <a:t>：中高</a:t>
            </a:r>
          </a:p>
          <a:p>
            <a:pPr lvl="0"/>
            <a:r>
              <a:rPr lang="zh-TW" altLang="en-US" dirty="0"/>
              <a:t>規格書完整整合度：中</a:t>
            </a:r>
          </a:p>
          <a:p>
            <a:pPr lvl="0"/>
            <a:r>
              <a:rPr lang="zh-TW" altLang="en-US" dirty="0"/>
              <a:t>對外通報與展示功能：偏低</a:t>
            </a:r>
          </a:p>
          <a:p>
            <a:pPr marL="0" lvl="0" indent="0">
              <a:buNone/>
            </a:pPr>
            <a:r>
              <a:rPr lang="zh-TW" altLang="en-US" dirty="0"/>
              <a:t>目前 </a:t>
            </a:r>
            <a:r>
              <a:rPr lang="en-US" altLang="zh-TW" dirty="0"/>
              <a:t>V3 </a:t>
            </a:r>
            <a:r>
              <a:rPr lang="zh-TW" altLang="en-US" dirty="0"/>
              <a:t>已可作為「即時振動頻譜分析與異常偵測核心」，但若要成為完整規格書專題，仍需補齊通訊、報告、視覺化與 </a:t>
            </a:r>
            <a:r>
              <a:rPr lang="en-US" altLang="zh-TW" dirty="0"/>
              <a:t>BSP </a:t>
            </a:r>
            <a:r>
              <a:rPr lang="zh-TW" altLang="en-US" dirty="0"/>
              <a:t>文件。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B18CE-2AE0-456C-82A3-FD85F0C3A629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27634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  <a:p>
            <a:pPr lvl="0"/>
            <a:r>
              <a:rPr lang="zh-TW" altLang="en-US" dirty="0"/>
              <a:t>能初始化 </a:t>
            </a:r>
            <a:r>
              <a:rPr lang="en-US" altLang="zh-TW" dirty="0"/>
              <a:t>MPU6050 </a:t>
            </a:r>
            <a:r>
              <a:rPr lang="zh-TW" altLang="en-US" dirty="0"/>
              <a:t>並讀取三軸加速度</a:t>
            </a:r>
          </a:p>
          <a:p>
            <a:pPr lvl="0"/>
            <a:r>
              <a:rPr lang="zh-TW" altLang="en-US" dirty="0"/>
              <a:t>能以 </a:t>
            </a:r>
            <a:r>
              <a:rPr lang="en-US" altLang="zh-TW" dirty="0"/>
              <a:t>1 kHz </a:t>
            </a:r>
            <a:r>
              <a:rPr lang="zh-TW" altLang="en-US" dirty="0"/>
              <a:t>週期採樣</a:t>
            </a:r>
          </a:p>
          <a:p>
            <a:pPr lvl="0"/>
            <a:r>
              <a:rPr lang="zh-TW" altLang="en-US" dirty="0"/>
              <a:t>能每 </a:t>
            </a:r>
            <a:r>
              <a:rPr lang="en-US" altLang="zh-TW" dirty="0"/>
              <a:t>512 samples </a:t>
            </a:r>
            <a:r>
              <a:rPr lang="zh-TW" altLang="en-US" dirty="0"/>
              <a:t>產生一筆分析 </a:t>
            </a:r>
            <a:r>
              <a:rPr lang="en-US" altLang="zh-TW" dirty="0"/>
              <a:t>frame</a:t>
            </a:r>
          </a:p>
          <a:p>
            <a:pPr lvl="0"/>
            <a:r>
              <a:rPr lang="zh-TW" altLang="en-US" dirty="0"/>
              <a:t>能做三軸 </a:t>
            </a:r>
            <a:r>
              <a:rPr lang="en-US" altLang="zh-TW" dirty="0"/>
              <a:t>FFT </a:t>
            </a:r>
            <a:r>
              <a:rPr lang="zh-TW" altLang="en-US" dirty="0"/>
              <a:t>與 </a:t>
            </a:r>
            <a:r>
              <a:rPr lang="en-US" altLang="zh-TW" dirty="0"/>
              <a:t>dominant frequency </a:t>
            </a:r>
            <a:r>
              <a:rPr lang="zh-TW" altLang="en-US" dirty="0"/>
              <a:t>偵測</a:t>
            </a:r>
          </a:p>
          <a:p>
            <a:pPr lvl="0"/>
            <a:r>
              <a:rPr lang="zh-TW" altLang="en-US" dirty="0"/>
              <a:t>能建立 </a:t>
            </a:r>
            <a:r>
              <a:rPr lang="en-US" altLang="zh-TW" dirty="0"/>
              <a:t>baseline </a:t>
            </a:r>
            <a:r>
              <a:rPr lang="zh-TW" altLang="en-US" dirty="0"/>
              <a:t>並計算 </a:t>
            </a:r>
            <a:r>
              <a:rPr lang="en-US" altLang="zh-TW" dirty="0"/>
              <a:t>anomaly score</a:t>
            </a:r>
          </a:p>
          <a:p>
            <a:pPr lvl="0"/>
            <a:r>
              <a:rPr lang="zh-TW" altLang="en-US" dirty="0"/>
              <a:t>能分出 </a:t>
            </a:r>
            <a:r>
              <a:rPr lang="en-US" altLang="zh-TW" dirty="0"/>
              <a:t>NORMAL / WARNING / ALERT</a:t>
            </a:r>
          </a:p>
          <a:p>
            <a:pPr lvl="0"/>
            <a:r>
              <a:rPr lang="zh-TW" altLang="en-US" dirty="0"/>
              <a:t>能透過按鈕重新收集 </a:t>
            </a:r>
            <a:r>
              <a:rPr lang="en-US" altLang="zh-TW" dirty="0"/>
              <a:t>baseline</a:t>
            </a:r>
          </a:p>
          <a:p>
            <a:pPr lvl="0"/>
            <a:r>
              <a:rPr lang="zh-TW" altLang="en-US" dirty="0"/>
              <a:t>能統一輸出即時診斷資訊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B18CE-2AE0-456C-82A3-FD85F0C3A629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1826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TW" dirty="0"/>
              <a:t>V3 </a:t>
            </a:r>
            <a:r>
              <a:rPr lang="zh-TW" altLang="en-US" dirty="0"/>
              <a:t>已完成即時振動監測系統的核心資料路徑</a:t>
            </a:r>
          </a:p>
          <a:p>
            <a:pPr lvl="0"/>
            <a:r>
              <a:rPr lang="zh-TW" altLang="en-US" dirty="0"/>
              <a:t>程式架構已將採樣、</a:t>
            </a:r>
            <a:r>
              <a:rPr lang="en-US" altLang="zh-TW" dirty="0"/>
              <a:t>DSP</a:t>
            </a:r>
            <a:r>
              <a:rPr lang="zh-TW" altLang="en-US" dirty="0"/>
              <a:t>、按鈕、輸出分離，符合 </a:t>
            </a:r>
            <a:r>
              <a:rPr lang="en-US" altLang="zh-TW" dirty="0"/>
              <a:t>RT </a:t>
            </a:r>
            <a:r>
              <a:rPr lang="zh-TW" altLang="en-US" dirty="0"/>
              <a:t>設計精神</a:t>
            </a:r>
          </a:p>
          <a:p>
            <a:pPr lvl="0"/>
            <a:r>
              <a:rPr lang="en-US" altLang="zh-TW" dirty="0"/>
              <a:t>FFT </a:t>
            </a:r>
            <a:r>
              <a:rPr lang="zh-TW" altLang="en-US" dirty="0"/>
              <a:t>與 </a:t>
            </a:r>
            <a:r>
              <a:rPr lang="en-US" altLang="zh-TW" dirty="0"/>
              <a:t>baseline anomaly scoring </a:t>
            </a:r>
            <a:r>
              <a:rPr lang="zh-TW" altLang="en-US" dirty="0"/>
              <a:t>可支撐專題展示</a:t>
            </a:r>
          </a:p>
          <a:p>
            <a:pPr lvl="0"/>
            <a:r>
              <a:rPr lang="zh-TW" altLang="en-US" dirty="0"/>
              <a:t>下一階段應集中補上 </a:t>
            </a:r>
            <a:r>
              <a:rPr lang="en-US" altLang="zh-TW" dirty="0"/>
              <a:t>GSM</a:t>
            </a:r>
            <a:r>
              <a:rPr lang="zh-TW" altLang="en-US" dirty="0"/>
              <a:t>、</a:t>
            </a:r>
            <a:r>
              <a:rPr lang="en-US" altLang="zh-TW" dirty="0"/>
              <a:t>AXI-Stream </a:t>
            </a:r>
            <a:r>
              <a:rPr lang="zh-TW" altLang="en-US" dirty="0"/>
              <a:t>模擬、效能量測與視覺化</a:t>
            </a:r>
          </a:p>
          <a:p>
            <a:pPr lvl="0"/>
            <a:r>
              <a:rPr lang="zh-TW" altLang="en-US" dirty="0"/>
              <a:t>完成補強後，整體將更貼近規格書定義的完整嵌入式系統專題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B18CE-2AE0-456C-82A3-FD85F0C3A629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0973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98781"/>
            <a:ext cx="7772400" cy="1102519"/>
          </a:xfrm>
        </p:spPr>
        <p:txBody>
          <a:bodyPr>
            <a:normAutofit fontScale="90000"/>
          </a:bodyPr>
          <a:lstStyle/>
          <a:p>
            <a:pPr lvl="0"/>
            <a:r>
              <a:rPr lang="en-US" altLang="zh-TW" sz="3600" dirty="0">
                <a:cs typeface="Times New Roman" panose="02020603050405020304" pitchFamily="18" charset="0"/>
              </a:rPr>
              <a:t>Embedded Real-Time Vibration Spectrum Analysis System Based on RT-Preempt Linux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 fontScale="85000" lnSpcReduction="20000"/>
          </a:bodyPr>
          <a:lstStyle/>
          <a:p>
            <a:r>
              <a:rPr kumimoji="1" lang="en-US" altLang="zh-TW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Group 2</a:t>
            </a:r>
          </a:p>
          <a:p>
            <a:r>
              <a:rPr kumimoji="1" lang="en-US" altLang="zh-TW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M11415040 </a:t>
            </a:r>
            <a:r>
              <a:rPr kumimoji="1" lang="zh-TW" altLang="en-US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蔡劭威</a:t>
            </a:r>
            <a:endParaRPr kumimoji="1" lang="en-US" altLang="zh-TW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M11415031</a:t>
            </a:r>
            <a:r>
              <a:rPr kumimoji="1" lang="zh-TW" altLang="en-US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蔡郡傑</a:t>
            </a:r>
            <a:endParaRPr kumimoji="1" lang="en-US" altLang="zh-TW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2026/05/28 Thu.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8905" y="5099"/>
            <a:ext cx="4343400" cy="705420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Research </a:t>
            </a:r>
            <a:r>
              <a:rPr lang="en-US" dirty="0" err="1"/>
              <a:t>Motivaiton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UAV application necessitates the a</a:t>
            </a:r>
            <a:r>
              <a:rPr lang="en-US" altLang="zh-TW" dirty="0"/>
              <a:t>utomation of health check</a:t>
            </a:r>
          </a:p>
          <a:p>
            <a:pPr lvl="0"/>
            <a:r>
              <a:rPr lang="en-US" altLang="zh-TW" dirty="0"/>
              <a:t>Scheduling latency affects the sampling in high frequency </a:t>
            </a:r>
          </a:p>
          <a:p>
            <a:pPr lvl="0"/>
            <a:r>
              <a:rPr lang="en-US" dirty="0" err="1"/>
              <a:t>Preempt_RT</a:t>
            </a:r>
            <a:r>
              <a:rPr lang="en-US" dirty="0"/>
              <a:t> lowers the uncertainty and increases the stability</a:t>
            </a:r>
          </a:p>
          <a:p>
            <a:pPr lvl="0"/>
            <a:r>
              <a:rPr lang="en-US" dirty="0"/>
              <a:t>Vibrancy indicates the wear and imbalance of fan leaves</a:t>
            </a:r>
          </a:p>
          <a:p>
            <a:pPr lvl="0"/>
            <a:r>
              <a:rPr lang="en-US" dirty="0"/>
              <a:t>Implementation of low cost predictive detection prototype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08707" y="7646"/>
            <a:ext cx="4911969" cy="703721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Structure of the project</a:t>
            </a:r>
            <a:endParaRPr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83062E75-B984-101A-ECBA-49C6B5B916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6357968"/>
              </p:ext>
            </p:extLst>
          </p:nvPr>
        </p:nvGraphicFramePr>
        <p:xfrm>
          <a:off x="1949938" y="1076407"/>
          <a:ext cx="8229600" cy="3394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6" name="群組 5">
            <a:extLst>
              <a:ext uri="{FF2B5EF4-FFF2-40B4-BE49-F238E27FC236}">
                <a16:creationId xmlns:a16="http://schemas.microsoft.com/office/drawing/2014/main" id="{CB1CC041-27D3-E202-D2C3-A1CDF3DA9670}"/>
              </a:ext>
            </a:extLst>
          </p:cNvPr>
          <p:cNvGrpSpPr/>
          <p:nvPr/>
        </p:nvGrpSpPr>
        <p:grpSpPr>
          <a:xfrm>
            <a:off x="1632259" y="3279801"/>
            <a:ext cx="1363429" cy="1074594"/>
            <a:chOff x="1114603" y="1094353"/>
            <a:chExt cx="1476391" cy="1033426"/>
          </a:xfrm>
        </p:grpSpPr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5F85BEE7-9646-3276-93A0-E09CB979A451}"/>
                </a:ext>
              </a:extLst>
            </p:cNvPr>
            <p:cNvSpPr/>
            <p:nvPr/>
          </p:nvSpPr>
          <p:spPr>
            <a:xfrm>
              <a:off x="1114603" y="1094353"/>
              <a:ext cx="1476391" cy="1033426"/>
            </a:xfrm>
            <a:prstGeom prst="roundRect">
              <a:avLst>
                <a:gd name="adj" fmla="val 16670"/>
              </a:avLst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矩形: 圓角 4">
              <a:extLst>
                <a:ext uri="{FF2B5EF4-FFF2-40B4-BE49-F238E27FC236}">
                  <a16:creationId xmlns:a16="http://schemas.microsoft.com/office/drawing/2014/main" id="{28F08B25-9F42-1C3E-D3B2-9F4305B41C8F}"/>
                </a:ext>
              </a:extLst>
            </p:cNvPr>
            <p:cNvSpPr txBox="1"/>
            <p:nvPr/>
          </p:nvSpPr>
          <p:spPr>
            <a:xfrm>
              <a:off x="1165060" y="1144810"/>
              <a:ext cx="1375477" cy="9325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lvl="0"/>
              <a:r>
                <a:rPr lang="en-US" altLang="zh-TW" sz="2000" dirty="0">
                  <a:solidFill>
                    <a:schemeClr val="tx1"/>
                  </a:solidFill>
                </a:rPr>
                <a:t>   Button    </a:t>
              </a:r>
            </a:p>
            <a:p>
              <a:pPr lvl="0"/>
              <a:r>
                <a:rPr lang="en-US" altLang="zh-TW" sz="2000" dirty="0">
                  <a:solidFill>
                    <a:schemeClr val="tx1"/>
                  </a:solidFill>
                </a:rPr>
                <a:t>   Thread</a:t>
              </a: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44191D7C-7077-3370-F1C5-60673A79D3BD}"/>
              </a:ext>
            </a:extLst>
          </p:cNvPr>
          <p:cNvGrpSpPr/>
          <p:nvPr/>
        </p:nvGrpSpPr>
        <p:grpSpPr>
          <a:xfrm>
            <a:off x="1553188" y="4522949"/>
            <a:ext cx="2518331" cy="365040"/>
            <a:chOff x="3934795" y="2715358"/>
            <a:chExt cx="4057854" cy="5341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FADB3BD-D38C-9549-2E1D-EA8D2FE4C9DA}"/>
                </a:ext>
              </a:extLst>
            </p:cNvPr>
            <p:cNvSpPr/>
            <p:nvPr/>
          </p:nvSpPr>
          <p:spPr>
            <a:xfrm>
              <a:off x="4009878" y="2715358"/>
              <a:ext cx="3628840" cy="53416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5E1A1727-3953-885D-0422-F979A51BD7EE}"/>
                </a:ext>
              </a:extLst>
            </p:cNvPr>
            <p:cNvSpPr txBox="1"/>
            <p:nvPr/>
          </p:nvSpPr>
          <p:spPr>
            <a:xfrm>
              <a:off x="3934795" y="2715358"/>
              <a:ext cx="4057854" cy="5341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zh-TW" sz="1500" kern="1200" dirty="0"/>
                <a:t>Setting baseline request flag</a:t>
              </a:r>
            </a:p>
            <a:p>
              <a:pPr marL="0" lvl="1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zh-TW" altLang="en-US" sz="1500" kern="1200" dirty="0"/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E70B42C5-B795-CA12-5913-A18EA15649DD}"/>
              </a:ext>
            </a:extLst>
          </p:cNvPr>
          <p:cNvGrpSpPr/>
          <p:nvPr/>
        </p:nvGrpSpPr>
        <p:grpSpPr>
          <a:xfrm>
            <a:off x="30842" y="2228277"/>
            <a:ext cx="3300766" cy="846537"/>
            <a:chOff x="1524306" y="137984"/>
            <a:chExt cx="3300766" cy="846537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11AC6FD-6F0B-34AD-2E33-B807C0F86159}"/>
                </a:ext>
              </a:extLst>
            </p:cNvPr>
            <p:cNvSpPr/>
            <p:nvPr/>
          </p:nvSpPr>
          <p:spPr>
            <a:xfrm>
              <a:off x="1524306" y="149261"/>
              <a:ext cx="3300766" cy="83526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83E5BABA-7559-8C17-CDDF-0C726BE755AB}"/>
                </a:ext>
              </a:extLst>
            </p:cNvPr>
            <p:cNvSpPr txBox="1"/>
            <p:nvPr/>
          </p:nvSpPr>
          <p:spPr>
            <a:xfrm>
              <a:off x="1727506" y="137984"/>
              <a:ext cx="2196543" cy="8352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zh-TW" sz="1500" kern="1200" dirty="0"/>
                <a:t>Double buffer for </a:t>
              </a:r>
            </a:p>
            <a:p>
              <a:pPr marL="0" lvl="1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altLang="zh-TW" sz="1500" dirty="0"/>
                <a:t>  X/Y/Z [0-511] space</a:t>
              </a:r>
              <a:endParaRPr lang="zh-TW" altLang="en-US" sz="1500" kern="12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58417" y="-39757"/>
            <a:ext cx="4422913" cy="735238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System Specification</a:t>
            </a:r>
            <a:endParaRPr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3327154"/>
              </p:ext>
            </p:extLst>
          </p:nvPr>
        </p:nvGraphicFramePr>
        <p:xfrm>
          <a:off x="457200" y="119380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>
                          <a:latin typeface="+mj-lt"/>
                        </a:rPr>
                        <a:t>Elements</a:t>
                      </a:r>
                      <a:endParaRPr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>
                          <a:latin typeface="+mj-lt"/>
                        </a:rPr>
                        <a:t>Spec.</a:t>
                      </a:r>
                      <a:endParaRPr sz="1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>
                          <a:latin typeface="+mj-lt"/>
                        </a:rPr>
                        <a:t>Platform</a:t>
                      </a:r>
                      <a:endParaRPr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>
                          <a:latin typeface="+mj-lt"/>
                        </a:rPr>
                        <a:t>Raspberry Pi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>
                          <a:latin typeface="+mj-lt"/>
                        </a:rPr>
                        <a:t>OS </a:t>
                      </a:r>
                      <a:r>
                        <a:rPr lang="en-US" sz="1800" dirty="0">
                          <a:latin typeface="+mj-lt"/>
                        </a:rPr>
                        <a:t>type</a:t>
                      </a:r>
                      <a:endParaRPr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>
                          <a:latin typeface="+mj-lt"/>
                        </a:rPr>
                        <a:t>Linux PREEMPT_RT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>
                          <a:latin typeface="+mj-lt"/>
                        </a:rPr>
                        <a:t>Sensor</a:t>
                      </a:r>
                      <a:endParaRPr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>
                          <a:latin typeface="+mj-lt"/>
                        </a:rPr>
                        <a:t>MPU6050 </a:t>
                      </a:r>
                      <a:r>
                        <a:rPr lang="en-US" altLang="zh-TW" sz="1800" dirty="0">
                          <a:latin typeface="+mj-lt"/>
                        </a:rPr>
                        <a:t>Tri-Axis Accelerometer</a:t>
                      </a:r>
                      <a:endParaRPr sz="1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>
                          <a:latin typeface="+mj-lt"/>
                        </a:rPr>
                        <a:t>Sensing interface</a:t>
                      </a:r>
                      <a:endParaRPr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>
                          <a:latin typeface="+mj-lt"/>
                        </a:rPr>
                        <a:t>I2C /dev/i2c-1, address 0x68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>
                          <a:latin typeface="+mj-lt"/>
                        </a:rPr>
                        <a:t>Sampling rate</a:t>
                      </a:r>
                      <a:endParaRPr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>
                          <a:latin typeface="+mj-lt"/>
                        </a:rPr>
                        <a:t>1 kHz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>
                          <a:latin typeface="+mj-lt"/>
                        </a:rPr>
                        <a:t>FFT </a:t>
                      </a:r>
                      <a:r>
                        <a:rPr lang="en-US" sz="1800" dirty="0">
                          <a:latin typeface="+mj-lt"/>
                        </a:rPr>
                        <a:t>length</a:t>
                      </a:r>
                      <a:endParaRPr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>
                          <a:latin typeface="+mj-lt"/>
                        </a:rPr>
                        <a:t>512 samples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>
                          <a:latin typeface="+mj-lt"/>
                        </a:rPr>
                        <a:t>Warning output</a:t>
                      </a:r>
                      <a:endParaRPr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>
                          <a:latin typeface="+mj-lt"/>
                        </a:rPr>
                        <a:t>Terminal log</a:t>
                      </a:r>
                      <a:r>
                        <a:rPr lang="en-US" sz="1800" dirty="0">
                          <a:latin typeface="+mj-lt"/>
                        </a:rPr>
                        <a:t>; expanding</a:t>
                      </a:r>
                      <a:r>
                        <a:rPr sz="1800" dirty="0">
                          <a:latin typeface="+mj-lt"/>
                        </a:rPr>
                        <a:t> GSM/SMS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087" y="19878"/>
            <a:ext cx="2464904" cy="735238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Data Pipeline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445085B-F2C8-55E6-D63C-9D596A0BC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97" y="646044"/>
            <a:ext cx="6555173" cy="44775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1A85C29-90A2-2B90-62FE-2A1C7D335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87" y="19878"/>
            <a:ext cx="2464904" cy="735238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Data Pipeline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BE7150D8-AA6D-5A2E-EE2B-06AA0DF96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41" y="646986"/>
            <a:ext cx="8364117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548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7EC1968-9821-2161-5A9C-9A235F66A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85" y="0"/>
            <a:ext cx="4911969" cy="703721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lang="en-US" dirty="0"/>
              <a:t>Program Flow chart</a:t>
            </a:r>
            <a:endParaRPr dirty="0"/>
          </a:p>
        </p:txBody>
      </p:sp>
      <p:graphicFrame>
        <p:nvGraphicFramePr>
          <p:cNvPr id="8" name="內容版面配置區 3">
            <a:extLst>
              <a:ext uri="{FF2B5EF4-FFF2-40B4-BE49-F238E27FC236}">
                <a16:creationId xmlns:a16="http://schemas.microsoft.com/office/drawing/2014/main" id="{034CEDC4-FCCB-622D-BBD6-65A307AC99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556089"/>
              </p:ext>
            </p:extLst>
          </p:nvPr>
        </p:nvGraphicFramePr>
        <p:xfrm>
          <a:off x="457200" y="255300"/>
          <a:ext cx="8229600" cy="3394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9" name="群組 8">
            <a:extLst>
              <a:ext uri="{FF2B5EF4-FFF2-40B4-BE49-F238E27FC236}">
                <a16:creationId xmlns:a16="http://schemas.microsoft.com/office/drawing/2014/main" id="{6F173E43-F537-0767-5F83-441D977E59FF}"/>
              </a:ext>
            </a:extLst>
          </p:cNvPr>
          <p:cNvGrpSpPr/>
          <p:nvPr/>
        </p:nvGrpSpPr>
        <p:grpSpPr>
          <a:xfrm>
            <a:off x="707665" y="3195724"/>
            <a:ext cx="458317" cy="536145"/>
            <a:chOff x="2385298" y="1428964"/>
            <a:chExt cx="458317" cy="536145"/>
          </a:xfrm>
        </p:grpSpPr>
        <p:sp>
          <p:nvSpPr>
            <p:cNvPr id="10" name="箭號: 向右 9">
              <a:extLst>
                <a:ext uri="{FF2B5EF4-FFF2-40B4-BE49-F238E27FC236}">
                  <a16:creationId xmlns:a16="http://schemas.microsoft.com/office/drawing/2014/main" id="{24402EFA-84AE-4E62-3648-FD411A26383F}"/>
                </a:ext>
              </a:extLst>
            </p:cNvPr>
            <p:cNvSpPr/>
            <p:nvPr/>
          </p:nvSpPr>
          <p:spPr>
            <a:xfrm>
              <a:off x="2385298" y="1428964"/>
              <a:ext cx="458317" cy="53614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箭號: 向右 4">
              <a:extLst>
                <a:ext uri="{FF2B5EF4-FFF2-40B4-BE49-F238E27FC236}">
                  <a16:creationId xmlns:a16="http://schemas.microsoft.com/office/drawing/2014/main" id="{BB2936A6-4A42-5723-F752-EDB90FE456D5}"/>
                </a:ext>
              </a:extLst>
            </p:cNvPr>
            <p:cNvSpPr txBox="1"/>
            <p:nvPr/>
          </p:nvSpPr>
          <p:spPr>
            <a:xfrm>
              <a:off x="2385298" y="1536193"/>
              <a:ext cx="320822" cy="3216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TW" altLang="en-US" sz="1400" kern="1200"/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35FAAB7-EDE0-6A3B-9279-B504C781C0A7}"/>
              </a:ext>
            </a:extLst>
          </p:cNvPr>
          <p:cNvGrpSpPr/>
          <p:nvPr/>
        </p:nvGrpSpPr>
        <p:grpSpPr>
          <a:xfrm>
            <a:off x="1322290" y="2815233"/>
            <a:ext cx="2161877" cy="1297126"/>
            <a:chOff x="3033861" y="1048474"/>
            <a:chExt cx="2161877" cy="1297126"/>
          </a:xfrm>
        </p:grpSpPr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D4F98F88-3EAB-9745-DA86-FC69B97B000D}"/>
                </a:ext>
              </a:extLst>
            </p:cNvPr>
            <p:cNvSpPr/>
            <p:nvPr/>
          </p:nvSpPr>
          <p:spPr>
            <a:xfrm>
              <a:off x="3033861" y="1048474"/>
              <a:ext cx="2161877" cy="1297126"/>
            </a:xfrm>
            <a:prstGeom prst="roundRect">
              <a:avLst>
                <a:gd name="adj" fmla="val 10000"/>
              </a:avLst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矩形: 圓角 4">
              <a:extLst>
                <a:ext uri="{FF2B5EF4-FFF2-40B4-BE49-F238E27FC236}">
                  <a16:creationId xmlns:a16="http://schemas.microsoft.com/office/drawing/2014/main" id="{595C7F89-46A0-05CD-6CC9-77A8CA84709B}"/>
                </a:ext>
              </a:extLst>
            </p:cNvPr>
            <p:cNvSpPr txBox="1"/>
            <p:nvPr/>
          </p:nvSpPr>
          <p:spPr>
            <a:xfrm>
              <a:off x="3071853" y="1086466"/>
              <a:ext cx="2085893" cy="12211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t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TW" sz="1800" kern="1200" dirty="0">
                  <a:solidFill>
                    <a:schemeClr val="tx1"/>
                  </a:solidFill>
                </a:rPr>
                <a:t>4. Baseline ready</a:t>
              </a:r>
              <a:endParaRPr lang="zh-TW" altLang="en-US" sz="1800" kern="1200" dirty="0">
                <a:solidFill>
                  <a:schemeClr val="tx1"/>
                </a:solidFill>
              </a:endParaRP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zh-TW" sz="1400" kern="1200" dirty="0">
                  <a:solidFill>
                    <a:schemeClr val="tx1"/>
                  </a:solidFill>
                </a:rPr>
                <a:t>Anomaly resumes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zh-TW" sz="1400" dirty="0">
                  <a:solidFill>
                    <a:schemeClr val="tx1"/>
                  </a:solidFill>
                </a:rPr>
                <a:t>GSM connection</a:t>
              </a:r>
              <a:r>
                <a:rPr lang="en-US" altLang="zh-TW" sz="1400" kern="1200" dirty="0">
                  <a:solidFill>
                    <a:schemeClr val="tx1"/>
                  </a:solidFill>
                </a:rPr>
                <a:t> </a:t>
              </a:r>
              <a:endParaRPr lang="zh-TW" altLang="en-US" sz="1400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A26A6C02-5082-BA37-A20F-7C30D52424EB}"/>
              </a:ext>
            </a:extLst>
          </p:cNvPr>
          <p:cNvGrpSpPr/>
          <p:nvPr/>
        </p:nvGrpSpPr>
        <p:grpSpPr>
          <a:xfrm>
            <a:off x="4138726" y="3195723"/>
            <a:ext cx="458317" cy="536145"/>
            <a:chOff x="2385298" y="1428964"/>
            <a:chExt cx="458317" cy="536145"/>
          </a:xfrm>
        </p:grpSpPr>
        <p:sp>
          <p:nvSpPr>
            <p:cNvPr id="16" name="箭號: 向右 15">
              <a:extLst>
                <a:ext uri="{FF2B5EF4-FFF2-40B4-BE49-F238E27FC236}">
                  <a16:creationId xmlns:a16="http://schemas.microsoft.com/office/drawing/2014/main" id="{B7132CDD-1E50-35F8-9EF0-D0CBEB0967B6}"/>
                </a:ext>
              </a:extLst>
            </p:cNvPr>
            <p:cNvSpPr/>
            <p:nvPr/>
          </p:nvSpPr>
          <p:spPr>
            <a:xfrm>
              <a:off x="2385298" y="1428964"/>
              <a:ext cx="458317" cy="53614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箭號: 向右 4">
              <a:extLst>
                <a:ext uri="{FF2B5EF4-FFF2-40B4-BE49-F238E27FC236}">
                  <a16:creationId xmlns:a16="http://schemas.microsoft.com/office/drawing/2014/main" id="{51816870-CEF5-0AEB-78DC-CEBA044E0F1A}"/>
                </a:ext>
              </a:extLst>
            </p:cNvPr>
            <p:cNvSpPr txBox="1"/>
            <p:nvPr/>
          </p:nvSpPr>
          <p:spPr>
            <a:xfrm>
              <a:off x="2385298" y="1536193"/>
              <a:ext cx="320822" cy="3216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TW" altLang="en-US" sz="1400" kern="1200"/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2C0F2770-74B2-32B6-FEBF-5BB9DFC12F76}"/>
              </a:ext>
            </a:extLst>
          </p:cNvPr>
          <p:cNvGrpSpPr/>
          <p:nvPr/>
        </p:nvGrpSpPr>
        <p:grpSpPr>
          <a:xfrm>
            <a:off x="5004545" y="2853225"/>
            <a:ext cx="2161877" cy="1297126"/>
            <a:chOff x="3033861" y="1048474"/>
            <a:chExt cx="2161877" cy="1297126"/>
          </a:xfrm>
        </p:grpSpPr>
        <p:sp>
          <p:nvSpPr>
            <p:cNvPr id="19" name="矩形: 圓角 18">
              <a:extLst>
                <a:ext uri="{FF2B5EF4-FFF2-40B4-BE49-F238E27FC236}">
                  <a16:creationId xmlns:a16="http://schemas.microsoft.com/office/drawing/2014/main" id="{DEC6C9ED-24A3-453E-0EBE-B2B750040609}"/>
                </a:ext>
              </a:extLst>
            </p:cNvPr>
            <p:cNvSpPr/>
            <p:nvPr/>
          </p:nvSpPr>
          <p:spPr>
            <a:xfrm>
              <a:off x="3033861" y="1048474"/>
              <a:ext cx="2161877" cy="1297126"/>
            </a:xfrm>
            <a:prstGeom prst="roundRect">
              <a:avLst>
                <a:gd name="adj" fmla="val 10000"/>
              </a:avLst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矩形: 圓角 4">
              <a:extLst>
                <a:ext uri="{FF2B5EF4-FFF2-40B4-BE49-F238E27FC236}">
                  <a16:creationId xmlns:a16="http://schemas.microsoft.com/office/drawing/2014/main" id="{7DF39388-807E-5A52-5128-4333375D7A7E}"/>
                </a:ext>
              </a:extLst>
            </p:cNvPr>
            <p:cNvSpPr txBox="1"/>
            <p:nvPr/>
          </p:nvSpPr>
          <p:spPr>
            <a:xfrm>
              <a:off x="3071853" y="1086466"/>
              <a:ext cx="2085893" cy="12211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t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TW" sz="1800" kern="1200" dirty="0">
                  <a:solidFill>
                    <a:schemeClr val="tx1"/>
                  </a:solidFill>
                </a:rPr>
                <a:t>5. Result</a:t>
              </a:r>
              <a:endParaRPr lang="zh-TW" altLang="en-US" sz="1800" kern="1200" dirty="0">
                <a:solidFill>
                  <a:schemeClr val="tx1"/>
                </a:solidFill>
              </a:endParaRP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zh-TW" sz="1400" kern="1200" dirty="0">
                  <a:solidFill>
                    <a:schemeClr val="tx1"/>
                  </a:solidFill>
                </a:rPr>
                <a:t>Abnormal or ordinary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zh-TW" sz="1400" dirty="0">
                  <a:solidFill>
                    <a:schemeClr val="tx1"/>
                  </a:solidFill>
                </a:rPr>
                <a:t>Sending emails</a:t>
              </a:r>
              <a:endParaRPr lang="zh-TW" altLang="en-US" sz="1400" kern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8969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Thread </a:t>
            </a:r>
            <a:r>
              <a:rPr lang="en-US" dirty="0"/>
              <a:t>Design</a:t>
            </a:r>
            <a:endParaRPr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0719870"/>
              </p:ext>
            </p:extLst>
          </p:nvPr>
        </p:nvGraphicFramePr>
        <p:xfrm>
          <a:off x="457200" y="11938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/>
                        <a:t>Thread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/>
                        <a:t>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2000" dirty="0"/>
                        <a:t>Task</a:t>
                      </a:r>
                      <a:endParaRPr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/>
                        <a:t>Sampling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 dirty="0"/>
                        <a:t>1 kHz MPU6050 </a:t>
                      </a:r>
                      <a:r>
                        <a:rPr lang="en-US" altLang="zh-TW" sz="2000" dirty="0"/>
                        <a:t>Sampling, </a:t>
                      </a:r>
                      <a:r>
                        <a:rPr sz="2000" dirty="0"/>
                        <a:t>double buffer handoff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 dirty="0"/>
                        <a:t>DSP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 dirty="0"/>
                        <a:t>FFT</a:t>
                      </a:r>
                      <a:r>
                        <a:rPr lang="en-US" sz="2000" dirty="0"/>
                        <a:t>, Feature Extraction, </a:t>
                      </a:r>
                      <a:r>
                        <a:rPr sz="2000" dirty="0"/>
                        <a:t>baseline</a:t>
                      </a:r>
                      <a:r>
                        <a:rPr lang="en-US" sz="2000" dirty="0"/>
                        <a:t>, Anomaly Score</a:t>
                      </a:r>
                      <a:endParaRPr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/>
                        <a:t>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 dirty="0"/>
                        <a:t>GPIO </a:t>
                      </a:r>
                      <a:r>
                        <a:rPr lang="en-US" sz="2000" dirty="0"/>
                        <a:t>button detection and </a:t>
                      </a:r>
                      <a:r>
                        <a:rPr sz="2000" dirty="0"/>
                        <a:t>debounce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/>
                        <a:t>Logging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2000" dirty="0"/>
                        <a:t>Analysis result</a:t>
                      </a:r>
                      <a:endParaRPr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65922" y="0"/>
            <a:ext cx="5506278" cy="546394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Thread Priority </a:t>
            </a:r>
            <a:r>
              <a:rPr lang="en-US" dirty="0"/>
              <a:t>Design</a:t>
            </a:r>
            <a:endParaRPr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067374A-23E3-3406-5340-2F7CB9CE62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623"/>
          <a:stretch>
            <a:fillRect/>
          </a:stretch>
        </p:blipFill>
        <p:spPr>
          <a:xfrm>
            <a:off x="894539" y="546394"/>
            <a:ext cx="7354922" cy="45971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31951"/>
            <a:ext cx="4760843" cy="857250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Real time sampling design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38" y="1116911"/>
            <a:ext cx="9501809" cy="2909678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Using `</a:t>
            </a:r>
            <a:r>
              <a:rPr lang="en-US" dirty="0" err="1"/>
              <a:t>clock_nanosleep</a:t>
            </a:r>
            <a:r>
              <a:rPr lang="en-US" dirty="0"/>
              <a:t>(CLOCK_MONOTONIC, TIMER_ABSTIME, ...)</a:t>
            </a:r>
          </a:p>
          <a:p>
            <a:pPr lvl="0"/>
            <a:r>
              <a:rPr lang="en-US" dirty="0"/>
              <a:t>Reading MPU6050 tri-axial data every 1 </a:t>
            </a:r>
            <a:r>
              <a:rPr lang="en-US" dirty="0" err="1"/>
              <a:t>ms</a:t>
            </a:r>
            <a:endParaRPr lang="en-US" dirty="0"/>
          </a:p>
          <a:p>
            <a:pPr lvl="0"/>
            <a:r>
              <a:rPr lang="en-US" dirty="0"/>
              <a:t>Raw data converted to g based on ±2g sensitivity</a:t>
            </a:r>
          </a:p>
          <a:p>
            <a:pPr lvl="0"/>
            <a:r>
              <a:rPr lang="en-US" dirty="0"/>
              <a:t>Effective EMA high-pass filtering to remove DC and gravity offsets</a:t>
            </a:r>
          </a:p>
          <a:p>
            <a:pPr lvl="0"/>
            <a:r>
              <a:rPr lang="en-US" dirty="0"/>
              <a:t>Double buffering is used to reduce the chance of the sampling thread being blocked by the DSP</a:t>
            </a:r>
          </a:p>
          <a:p>
            <a:pPr lvl="0"/>
            <a:r>
              <a:rPr lang="en-US" dirty="0"/>
              <a:t>Sampling overruns and missed frames are recorded.</a:t>
            </a:r>
            <a:endParaRPr dirty="0">
              <a:latin typeface="Couri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90261" y="0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FFT </a:t>
            </a:r>
            <a:r>
              <a:rPr lang="en-US" dirty="0"/>
              <a:t>&amp; Analysis of spectrum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782" y="1187728"/>
            <a:ext cx="9114183" cy="3394472"/>
          </a:xfrm>
        </p:spPr>
        <p:txBody>
          <a:bodyPr/>
          <a:lstStyle/>
          <a:p>
            <a:r>
              <a:rPr lang="en-US" altLang="zh-TW" dirty="0"/>
              <a:t>A frame is formed from 512 samples.</a:t>
            </a:r>
          </a:p>
          <a:p>
            <a:r>
              <a:rPr lang="en-US" altLang="zh-TW" dirty="0"/>
              <a:t>Radix-2 FFT is performed on the X, Y, and Z axes respectively.</a:t>
            </a:r>
          </a:p>
          <a:p>
            <a:r>
              <a:rPr lang="en-US" altLang="zh-TW" dirty="0"/>
              <a:t>Mean removal and Hanning windowing are performed before FFT.</a:t>
            </a:r>
          </a:p>
          <a:p>
            <a:r>
              <a:rPr lang="en-US" altLang="zh-TW" dirty="0"/>
              <a:t>Frequency resolution is approximately 1.953 Hz.</a:t>
            </a:r>
          </a:p>
          <a:p>
            <a:r>
              <a:rPr lang="en-US" altLang="zh-TW" dirty="0"/>
              <a:t>The search target is a main frequency between 20 Hz and 300 Hz.</a:t>
            </a:r>
          </a:p>
          <a:p>
            <a:r>
              <a:rPr lang="en-US" altLang="zh-TW" dirty="0"/>
              <a:t>Parabolic interpolation is used to reduce bin-to-bin jitter.</a:t>
            </a:r>
          </a:p>
          <a:p>
            <a:pPr lvl="0"/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萃取特徵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4845929"/>
              </p:ext>
            </p:extLst>
          </p:nvPr>
        </p:nvGraphicFramePr>
        <p:xfrm>
          <a:off x="457200" y="119380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特徵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用途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Dominant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/>
                        <a:t>Observing main source of vibration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Dominant magnitude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/>
                        <a:t>Observing main frequency energy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RMS X/Y/Z/Total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 err="1"/>
                        <a:t>評估整體振動強度</a:t>
                      </a:r>
                      <a:r>
                        <a:rPr lang="en-US" sz="1800" dirty="0" err="1"/>
                        <a:t>Evaluate</a:t>
                      </a:r>
                      <a:r>
                        <a:rPr lang="en-US" sz="1800" dirty="0"/>
                        <a:t> the 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Energy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 err="1"/>
                        <a:t>評估整體</a:t>
                      </a:r>
                      <a:r>
                        <a:rPr sz="1800" dirty="0"/>
                        <a:t> frame </a:t>
                      </a:r>
                      <a:r>
                        <a:rPr sz="1800" dirty="0" err="1"/>
                        <a:t>能量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Kurtosis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 err="1"/>
                        <a:t>觀察</a:t>
                      </a:r>
                      <a:r>
                        <a:rPr sz="1800" dirty="0"/>
                        <a:t> impulsive fault signature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1X / 2X / 3X harmonic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 err="1"/>
                        <a:t>觀察旋轉機械</a:t>
                      </a:r>
                      <a:r>
                        <a:rPr lang="zh-TW" altLang="en-US" sz="1800" dirty="0"/>
                        <a:t>諧波變化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Ratio 2X/1X, 3X/1X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/>
                        <a:t>Abnormal score input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13792" y="-122012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Baseline </a:t>
            </a:r>
            <a:r>
              <a:rPr lang="en-US" dirty="0"/>
              <a:t>&amp; Evaluation of </a:t>
            </a:r>
            <a:r>
              <a:rPr lang="en-US" dirty="0" err="1"/>
              <a:t>Anamoly</a:t>
            </a:r>
            <a:endParaRPr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D009DE2-77F6-A024-85CC-B96B905A43C5}"/>
              </a:ext>
            </a:extLst>
          </p:cNvPr>
          <p:cNvSpPr txBox="1"/>
          <p:nvPr/>
        </p:nvSpPr>
        <p:spPr>
          <a:xfrm>
            <a:off x="159026" y="624730"/>
            <a:ext cx="961113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1. Pressing the GPIO17 button starts baseline collection.</a:t>
            </a:r>
          </a:p>
          <a:p>
            <a:r>
              <a:rPr lang="en-US" altLang="zh-TW" sz="2400" dirty="0"/>
              <a:t>2. Collect 20 complete frames as the normal state model.</a:t>
            </a:r>
          </a:p>
          <a:p>
            <a:r>
              <a:rPr lang="en-US" altLang="zh-TW" sz="2400" dirty="0"/>
              <a:t>3. Baseline stores the mean and standard deviation.</a:t>
            </a:r>
          </a:p>
          <a:p>
            <a:r>
              <a:rPr lang="en-US" altLang="zh-TW" sz="2400" dirty="0"/>
              <a:t>4. Outlier scores are calculated using a weighted z-score: RMS total</a:t>
            </a:r>
          </a:p>
          <a:p>
            <a:endParaRPr lang="en-US" altLang="zh-TW" sz="2400" dirty="0"/>
          </a:p>
          <a:p>
            <a:r>
              <a:rPr lang="en-US" altLang="zh-TW" sz="2400" dirty="0"/>
              <a:t>Z-axis dominant frequency</a:t>
            </a:r>
          </a:p>
          <a:p>
            <a:r>
              <a:rPr lang="en-US" altLang="zh-TW" sz="2400" dirty="0"/>
              <a:t>Z-axis ratio 2X/1X</a:t>
            </a:r>
          </a:p>
          <a:p>
            <a:r>
              <a:rPr lang="en-US" altLang="zh-TW" sz="2400" dirty="0"/>
              <a:t>Z-axis ratio 3X/1X</a:t>
            </a:r>
          </a:p>
          <a:p>
            <a:endParaRPr lang="en-US" altLang="zh-TW" sz="2400" dirty="0"/>
          </a:p>
          <a:p>
            <a:r>
              <a:rPr lang="en-US" altLang="zh-TW" sz="2400" dirty="0"/>
              <a:t>Output:</a:t>
            </a:r>
          </a:p>
          <a:p>
            <a:r>
              <a:rPr lang="en-US" altLang="zh-TW" sz="2400" dirty="0"/>
              <a:t>Score &gt;= 3: WARNING</a:t>
            </a:r>
          </a:p>
          <a:p>
            <a:r>
              <a:rPr lang="en-US" altLang="zh-TW" sz="2400" dirty="0"/>
              <a:t>Score &gt;= 6: ALERT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A24025B9-BF95-54DC-A426-97AA0D258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0175"/>
            <a:ext cx="8229600" cy="857250"/>
          </a:xfrm>
        </p:spPr>
        <p:txBody>
          <a:bodyPr>
            <a:noAutofit/>
          </a:bodyPr>
          <a:lstStyle/>
          <a:p>
            <a:r>
              <a:rPr lang="en-US" altLang="zh-TW" sz="3600" dirty="0"/>
              <a:t>Button-Triggered Baseline Collection Flow</a:t>
            </a:r>
            <a:br>
              <a:rPr lang="en-US" altLang="zh-TW" sz="3600" dirty="0"/>
            </a:br>
            <a:endParaRPr lang="zh-TW" altLang="en-US" sz="36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37EE020-54FE-7C92-66EF-8A3CE9A4604F}"/>
              </a:ext>
            </a:extLst>
          </p:cNvPr>
          <p:cNvSpPr txBox="1"/>
          <p:nvPr/>
        </p:nvSpPr>
        <p:spPr>
          <a:xfrm>
            <a:off x="355323" y="617623"/>
            <a:ext cx="8229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effectLst/>
                <a:latin typeface="ui-sans-serif"/>
              </a:rPr>
              <a:t>A button press does not interrupt real-time sampling. It only raises a request flag, and the DSP thread performs baseline collection at the next complete frame boundary.</a:t>
            </a:r>
            <a:endParaRPr lang="zh-TW" altLang="en-US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D6542C7E-36A1-EC44-9230-5F229CE38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7634"/>
            <a:ext cx="9144000" cy="96753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A6A28E26-14E7-6002-49E5-8E734D574E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48"/>
          <a:stretch>
            <a:fillRect/>
          </a:stretch>
        </p:blipFill>
        <p:spPr>
          <a:xfrm>
            <a:off x="84482" y="2205632"/>
            <a:ext cx="8975035" cy="998253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1F8F59AA-155E-838E-6796-59BDF5156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82" y="4141883"/>
            <a:ext cx="6534975" cy="817753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8D55771F-0C9F-40CF-E503-45DCB68EBE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168102"/>
            <a:ext cx="9144000" cy="10095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5">
            <a:extLst>
              <a:ext uri="{FF2B5EF4-FFF2-40B4-BE49-F238E27FC236}">
                <a16:creationId xmlns:a16="http://schemas.microsoft.com/office/drawing/2014/main" id="{98CD4527-50EC-1898-30AE-F9F070560445}"/>
              </a:ext>
            </a:extLst>
          </p:cNvPr>
          <p:cNvSpPr txBox="1">
            <a:spLocks/>
          </p:cNvSpPr>
          <p:nvPr/>
        </p:nvSpPr>
        <p:spPr>
          <a:xfrm>
            <a:off x="0" y="1301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/>
              <a:t>Button-Triggered Baseline Collection Flow</a:t>
            </a:r>
            <a:br>
              <a:rPr lang="en-US" altLang="zh-TW" sz="3600" dirty="0"/>
            </a:br>
            <a:endParaRPr lang="zh-TW" altLang="en-US" sz="36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1920A31-538D-379F-6734-3EC10A660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5266"/>
            <a:ext cx="9144000" cy="86431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9A86CAA-C7BC-45A6-8ED0-582A39F2A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2516"/>
            <a:ext cx="9144000" cy="88616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99A5297-FEDB-17FC-CA0C-E7364A322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98684"/>
            <a:ext cx="9144000" cy="103971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7FC5467-323F-984F-6D49-482501C5E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338401"/>
            <a:ext cx="7881730" cy="92364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DF018F6A-5B97-A3B9-ABB1-85C456BEEC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262042"/>
            <a:ext cx="8229600" cy="82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995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98983" y="-72317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Real Time output demo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[NORMAL] frame=21 score=0.85 baseline=yes
domHz(x/y/z)=58.6/60.2/59.1 rpm1x=3546
rms(x/y/z/t)=0.00321/0.00298/0.00412/0.00348
Zharm(A1/A2/A3)=0.01234/0.00210/0.00102
ratio2=0.170 ratio3=0.083 overrun=0 missed=0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8895"/>
            <a:ext cx="2604052" cy="857250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Completed</a:t>
            </a:r>
            <a:endParaRPr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165037"/>
              </p:ext>
            </p:extLst>
          </p:nvPr>
        </p:nvGraphicFramePr>
        <p:xfrm>
          <a:off x="457200" y="137414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/>
                        <a:t>Requirement</a:t>
                      </a:r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V3 </a:t>
                      </a:r>
                      <a:r>
                        <a:rPr lang="en-US" sz="1800" dirty="0"/>
                        <a:t>State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MPU6050 I2C </a:t>
                      </a:r>
                      <a:r>
                        <a:rPr lang="en-US" sz="1800" dirty="0"/>
                        <a:t>Communication</a:t>
                      </a:r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Finished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1 kHz </a:t>
                      </a:r>
                      <a:r>
                        <a:rPr lang="en-US" sz="1800" dirty="0"/>
                        <a:t>tri axis high speed sampling</a:t>
                      </a:r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Finished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512 </a:t>
                      </a:r>
                      <a:r>
                        <a:rPr lang="en-US" sz="1800" dirty="0"/>
                        <a:t>point</a:t>
                      </a:r>
                      <a:r>
                        <a:rPr sz="1800" dirty="0"/>
                        <a:t> FFT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Finished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/>
                        <a:t>Real time main frequency output</a:t>
                      </a:r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Finished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Baseline </a:t>
                      </a:r>
                      <a:r>
                        <a:rPr lang="en-US" sz="1800" dirty="0"/>
                        <a:t>normal model</a:t>
                      </a:r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Finished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/>
                        <a:t>Anomalies &amp; Health state classification</a:t>
                      </a:r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Finished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Thread priority / RT scheduling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Finished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GPIO </a:t>
                      </a:r>
                      <a:r>
                        <a:rPr lang="en-US" sz="1800" dirty="0"/>
                        <a:t>Button Control</a:t>
                      </a:r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Finished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Partially Completed</a:t>
            </a:r>
            <a:endParaRPr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7147821"/>
              </p:ext>
            </p:extLst>
          </p:nvPr>
        </p:nvGraphicFramePr>
        <p:xfrm>
          <a:off x="457200" y="1193800"/>
          <a:ext cx="8229600" cy="2308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規格書要求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V3 狀態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PREEMPT_RT BSP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altLang="zh-TW" dirty="0"/>
                        <a:t>Partially Completed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 err="1"/>
                        <a:t>程式支援</a:t>
                      </a:r>
                      <a:r>
                        <a:rPr dirty="0"/>
                        <a:t> RT </a:t>
                      </a:r>
                      <a:r>
                        <a:rPr dirty="0" err="1"/>
                        <a:t>thread，但</a:t>
                      </a:r>
                      <a:r>
                        <a:rPr dirty="0"/>
                        <a:t> kernel build 與 tuning </a:t>
                      </a:r>
                      <a:r>
                        <a:rPr dirty="0" err="1"/>
                        <a:t>不在程式內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Calibration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altLang="zh-TW" dirty="0"/>
                        <a:t>Partially Completed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已有 EMA high-pass 與 baseline，但尚未做明確 offset calibration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dirty="0"/>
                        <a:t>Performance </a:t>
                      </a:r>
                      <a:r>
                        <a:rPr lang="en-US" dirty="0" err="1"/>
                        <a:t>Evaluaiton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altLang="zh-TW" dirty="0"/>
                        <a:t>Partially Completed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已記錄 overrun/missed frame，尚未統計 jitter 與 FFT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dirty="0"/>
                        <a:t>System report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altLang="zh-TW" dirty="0"/>
                        <a:t>Partially Completed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有 terminal </a:t>
                      </a:r>
                      <a:r>
                        <a:rPr dirty="0" err="1"/>
                        <a:t>log，尚未自動輸出報告檔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Not Completed</a:t>
            </a:r>
            <a:endParaRPr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080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規格書要求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目前缺口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GSM / SIM7600 AT Commands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V3 尚未實作 UART、AT command、SMS 警報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遠端簡訊查詢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尚未實作 command parser 與回覆機制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AXI-Stream 模擬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V3 使用 double buffer，尚未實作 TVALID/TREADY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Device Tree Overlay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尚未提供 </a:t>
                      </a:r>
                      <a:r>
                        <a:rPr>
                          <a:latin typeface="Courier"/>
                        </a:rPr>
                        <a:t>.dtbo</a:t>
                      </a:r>
                      <a:r>
                        <a:t> 或 overlay 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即時頻譜圖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目前只有文字輸出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RT latency / jitter 報告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尚未量測與輸出圖表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19469" y="0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What we have completed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Core monitoring algorithm: High</a:t>
            </a:r>
          </a:p>
          <a:p>
            <a:pPr lvl="0"/>
            <a:r>
              <a:rPr lang="en-US" dirty="0"/>
              <a:t>Real-time sampling pipeline: High</a:t>
            </a:r>
          </a:p>
          <a:p>
            <a:pPr lvl="0"/>
            <a:r>
              <a:rPr lang="en-US" dirty="0"/>
              <a:t>Anomaly detection prototype: Medium-high</a:t>
            </a:r>
          </a:p>
          <a:p>
            <a:pPr lvl="0"/>
            <a:r>
              <a:rPr lang="en-US" dirty="0"/>
              <a:t>Specification integration completeness: Medium</a:t>
            </a:r>
          </a:p>
          <a:p>
            <a:pPr lvl="0"/>
            <a:r>
              <a:rPr lang="en-US" dirty="0"/>
              <a:t>External notification and display capabilities: Low</a:t>
            </a:r>
          </a:p>
          <a:p>
            <a:pPr lvl="0"/>
            <a:r>
              <a:rPr lang="en-US" dirty="0"/>
              <a:t>Currently, V3 can serve as the core for "real-time vibration spectrum analysis and anomaly detection," but to become a complete specification topic, communication, reporting, visualization, and BSP documents still need to be added.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136913" y="0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Exhibition of Result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It can initialize the MPU6050 and read triaxial acceleration.</a:t>
            </a:r>
          </a:p>
          <a:p>
            <a:r>
              <a:rPr lang="en-US" altLang="zh-TW" dirty="0"/>
              <a:t>It can sample at 1 kHz intervals.</a:t>
            </a:r>
          </a:p>
          <a:p>
            <a:r>
              <a:rPr lang="en-US" altLang="zh-TW" dirty="0"/>
              <a:t>It can generate one analysis frame every 512 samples.</a:t>
            </a:r>
          </a:p>
          <a:p>
            <a:r>
              <a:rPr lang="en-US" altLang="zh-TW" dirty="0"/>
              <a:t>It can perform triaxial FFT and dominant frequency detection.</a:t>
            </a:r>
          </a:p>
          <a:p>
            <a:r>
              <a:rPr lang="en-US" altLang="zh-TW" dirty="0"/>
              <a:t>It can establish a baseline and calculate anomaly scores.</a:t>
            </a:r>
          </a:p>
          <a:p>
            <a:r>
              <a:rPr lang="en-US" altLang="zh-TW" dirty="0"/>
              <a:t>It can distinguish between NORMAL, WARNING, and ALERT.</a:t>
            </a:r>
          </a:p>
          <a:p>
            <a:r>
              <a:rPr lang="en-US" altLang="zh-TW" dirty="0"/>
              <a:t>It can re-collect the baseline via a button.</a:t>
            </a:r>
          </a:p>
          <a:p>
            <a:r>
              <a:rPr lang="en-US" altLang="zh-TW" dirty="0"/>
              <a:t>It can uniformly output real-time diagnostic information.</a:t>
            </a:r>
          </a:p>
          <a:p>
            <a:pPr lvl="0"/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建議補強項目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>
              <a:buAutoNum type="arabicPeriod"/>
            </a:pPr>
            <a:r>
              <a:t>加入 GSM UART 與 SIM7600 AT command</a:t>
            </a:r>
          </a:p>
          <a:p>
            <a:pPr marL="342900" lvl="0" indent="-342900">
              <a:buAutoNum type="arabicPeriod"/>
            </a:pPr>
            <a:r>
              <a:t>異常狀態觸發 SMS alert</a:t>
            </a:r>
          </a:p>
          <a:p>
            <a:pPr marL="342900" lvl="0" indent="-342900">
              <a:buAutoNum type="arabicPeriod"/>
            </a:pPr>
            <a:r>
              <a:t>加入 AXI-Stream-like </a:t>
            </a:r>
            <a:r>
              <a:rPr>
                <a:latin typeface="Courier"/>
              </a:rPr>
              <a:t>TVALID/TREADY</a:t>
            </a:r>
            <a:r>
              <a:t> 資料結構</a:t>
            </a:r>
          </a:p>
          <a:p>
            <a:pPr marL="342900" lvl="0" indent="-342900">
              <a:buAutoNum type="arabicPeriod"/>
            </a:pPr>
            <a:r>
              <a:t>加入 offset calibration mode</a:t>
            </a:r>
          </a:p>
          <a:p>
            <a:pPr marL="342900" lvl="0" indent="-342900">
              <a:buAutoNum type="arabicPeriod"/>
            </a:pPr>
            <a:r>
              <a:t>量測 sampling jitter 與 FFT execution time</a:t>
            </a:r>
          </a:p>
          <a:p>
            <a:pPr marL="342900" lvl="0" indent="-342900">
              <a:buAutoNum type="arabicPeriod"/>
            </a:pPr>
            <a:r>
              <a:t>輸出 CSV log，方便畫圖與報告</a:t>
            </a:r>
          </a:p>
          <a:p>
            <a:pPr marL="342900" lvl="0" indent="-342900">
              <a:buAutoNum type="arabicPeriod"/>
            </a:pPr>
            <a:r>
              <a:t>製作頻譜圖或 Python plotting script</a:t>
            </a:r>
          </a:p>
          <a:p>
            <a:pPr marL="342900" lvl="0" indent="-342900">
              <a:buAutoNum type="arabicPeriod"/>
            </a:pPr>
            <a:r>
              <a:t>補上 Device Tree / RT kernel build 文件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Demo 流程建議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rPr dirty="0" err="1"/>
              <a:t>啟動程式並確認</a:t>
            </a:r>
            <a:r>
              <a:rPr dirty="0"/>
              <a:t> MPU6050 WHO_AM_I </a:t>
            </a:r>
            <a:r>
              <a:rPr dirty="0" err="1"/>
              <a:t>正確</a:t>
            </a:r>
            <a:endParaRPr dirty="0"/>
          </a:p>
          <a:p>
            <a:pPr marL="342900" lvl="0" indent="-342900">
              <a:buAutoNum type="arabicPeriod"/>
            </a:pPr>
            <a:r>
              <a:rPr dirty="0" err="1"/>
              <a:t>風扇穩定運轉後按下</a:t>
            </a:r>
            <a:r>
              <a:rPr dirty="0"/>
              <a:t> GPIO17 </a:t>
            </a:r>
            <a:r>
              <a:rPr dirty="0" err="1"/>
              <a:t>按鈕</a:t>
            </a:r>
            <a:endParaRPr dirty="0"/>
          </a:p>
          <a:p>
            <a:pPr marL="342900" lvl="0" indent="-342900">
              <a:buAutoNum type="arabicPeriod"/>
            </a:pPr>
            <a:r>
              <a:rPr dirty="0" err="1"/>
              <a:t>系統收集</a:t>
            </a:r>
            <a:r>
              <a:rPr dirty="0"/>
              <a:t> 20 個 baseline frames</a:t>
            </a:r>
          </a:p>
          <a:p>
            <a:pPr marL="342900" lvl="0" indent="-342900">
              <a:buAutoNum type="arabicPeriod"/>
            </a:pPr>
            <a:r>
              <a:rPr dirty="0" err="1"/>
              <a:t>觀察</a:t>
            </a:r>
            <a:r>
              <a:rPr dirty="0"/>
              <a:t> NORMAL </a:t>
            </a:r>
            <a:r>
              <a:rPr dirty="0" err="1"/>
              <a:t>狀態下的主頻、RMS、score</a:t>
            </a:r>
            <a:endParaRPr dirty="0"/>
          </a:p>
          <a:p>
            <a:pPr marL="342900" lvl="0" indent="-342900">
              <a:buAutoNum type="arabicPeriod"/>
            </a:pPr>
            <a:r>
              <a:rPr dirty="0" err="1"/>
              <a:t>製造不平衡或碰觸造成振動變化</a:t>
            </a:r>
            <a:endParaRPr dirty="0"/>
          </a:p>
          <a:p>
            <a:pPr marL="342900" lvl="0" indent="-342900">
              <a:buAutoNum type="arabicPeriod"/>
            </a:pPr>
            <a:r>
              <a:rPr dirty="0" err="1"/>
              <a:t>觀察</a:t>
            </a:r>
            <a:r>
              <a:rPr dirty="0"/>
              <a:t> score </a:t>
            </a:r>
            <a:r>
              <a:rPr dirty="0" err="1"/>
              <a:t>是否升高至</a:t>
            </a:r>
            <a:r>
              <a:rPr dirty="0"/>
              <a:t> WARNING 或 ALERT</a:t>
            </a:r>
          </a:p>
          <a:p>
            <a:pPr marL="342900" lvl="0" indent="-342900">
              <a:buAutoNum type="arabicPeriod"/>
            </a:pPr>
            <a:r>
              <a:rPr dirty="0" err="1"/>
              <a:t>檢查</a:t>
            </a:r>
            <a:r>
              <a:rPr dirty="0"/>
              <a:t> overrun/missed frame </a:t>
            </a:r>
            <a:r>
              <a:rPr dirty="0" err="1"/>
              <a:t>是否維持低值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43809" y="0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V3 has completed the core data path for the real-time vibration monitoring system.</a:t>
            </a:r>
          </a:p>
          <a:p>
            <a:pPr lvl="0"/>
            <a:r>
              <a:rPr lang="en-US" dirty="0"/>
              <a:t>The program architecture separates sampling, DSP, buttons, and output, conforming to the principles of real-time (RT) design.</a:t>
            </a:r>
          </a:p>
          <a:p>
            <a:pPr lvl="0"/>
            <a:r>
              <a:rPr lang="en-US" dirty="0"/>
              <a:t>FFT and baseline anomaly scoring can support thematic demonstrations.</a:t>
            </a:r>
          </a:p>
          <a:p>
            <a:pPr lvl="0"/>
            <a:r>
              <a:rPr lang="en-US" dirty="0"/>
              <a:t>The next phase should focus on adding GSM, AXI-Stream simulation, performance measurement, and visualization.</a:t>
            </a:r>
          </a:p>
          <a:p>
            <a:pPr lvl="0"/>
            <a:r>
              <a:rPr lang="en-US" dirty="0"/>
              <a:t>After these enhancements, the overall system will more closely resemble the complete embedded system defined in the specifications.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1780</Words>
  <Application>Microsoft Office PowerPoint</Application>
  <PresentationFormat>如螢幕大小 (16:9)</PresentationFormat>
  <Paragraphs>275</Paragraphs>
  <Slides>24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0" baseType="lpstr">
      <vt:lpstr>Courier</vt:lpstr>
      <vt:lpstr>ui-sans-serif</vt:lpstr>
      <vt:lpstr>Arial</vt:lpstr>
      <vt:lpstr>Calibri</vt:lpstr>
      <vt:lpstr>Times New Roman</vt:lpstr>
      <vt:lpstr>Office Theme</vt:lpstr>
      <vt:lpstr>Embedded Real-Time Vibration Spectrum Analysis System Based on RT-Preempt Linux</vt:lpstr>
      <vt:lpstr>Research Motivaiton</vt:lpstr>
      <vt:lpstr>Structure of the project</vt:lpstr>
      <vt:lpstr>System Specification</vt:lpstr>
      <vt:lpstr>Data Pipeline</vt:lpstr>
      <vt:lpstr>Data Pipeline</vt:lpstr>
      <vt:lpstr>Program Flow chart</vt:lpstr>
      <vt:lpstr>Thread Design</vt:lpstr>
      <vt:lpstr>Thread Priority Design</vt:lpstr>
      <vt:lpstr>Real time sampling design</vt:lpstr>
      <vt:lpstr>FFT &amp; Analysis of spectrum</vt:lpstr>
      <vt:lpstr>萃取特徵</vt:lpstr>
      <vt:lpstr>Baseline &amp; Evaluation of Anamoly</vt:lpstr>
      <vt:lpstr>Button-Triggered Baseline Collection Flow </vt:lpstr>
      <vt:lpstr>PowerPoint 簡報</vt:lpstr>
      <vt:lpstr>Real Time output demo</vt:lpstr>
      <vt:lpstr>Completed</vt:lpstr>
      <vt:lpstr>Partially Completed</vt:lpstr>
      <vt:lpstr>Not Completed</vt:lpstr>
      <vt:lpstr>What we have completed</vt:lpstr>
      <vt:lpstr>Exhibition of Result</vt:lpstr>
      <vt:lpstr>建議補強項目</vt:lpstr>
      <vt:lpstr>Demo 流程建議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嵌入式即時振動頻譜分析系統</dc:title>
  <dc:creator>Embedded System Project V3</dc:creator>
  <cp:keywords/>
  <cp:lastModifiedBy>劭威 蔡</cp:lastModifiedBy>
  <cp:revision>14</cp:revision>
  <dcterms:created xsi:type="dcterms:W3CDTF">2026-05-24T08:35:37Z</dcterms:created>
  <dcterms:modified xsi:type="dcterms:W3CDTF">2026-05-24T12:12:10Z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2026-05-24</vt:lpwstr>
  </property>
  <property fmtid="{D5CDD505-2E9C-101B-9397-08002B2CF9AE}" pid="3" name="subtitle">
    <vt:lpwstr>Raspberry Pi 5 + PREEMPT_RT + MPU6050 專題成果</vt:lpwstr>
  </property>
</Properties>
</file>